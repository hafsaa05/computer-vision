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0bbff7c-4b38-da6e-a21c-6c9c29f53930}">
          <p14:sldIdLst>
            <p14:sldId id="256"/>
          </p14:sldIdLst>
        </p14:section>
        <p14:section name="Problem" id="{6a600c6e-029f-19e4-4241-a88352036fd6}">
          <p14:sldIdLst>
            <p14:sldId id="257"/>
            <p14:sldId id="258"/>
          </p14:sldIdLst>
        </p14:section>
        <p14:section name="Method" id="{39f4f991-6775-17e1-d83d-e6b861fef52f}">
          <p14:sldIdLst>
            <p14:sldId id="259"/>
            <p14:sldId id="260"/>
          </p14:sldIdLst>
        </p14:section>
        <p14:section name="Results" id="{e0cb24c8-a5db-5fd9-f53a-4750d617e225}">
          <p14:sldIdLst>
            <p14:sldId id="261"/>
            <p14:sldId id="262"/>
            <p14:sldId id="263"/>
          </p14:sldIdLst>
        </p14:section>
        <p14:section name="Wrap up" id="{c8fbf54a-402c-a2ce-e7dc-8192d87ac24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B2D"/>
                </a:solidFill>
                <a:latin typeface="+mn-lt"/>
              </a:defRPr>
            </a:pPr>
            <a:r>
              <a:rPr sz="1300" b="0" i="0" u="none" strike="noStrike">
                <a:solidFill>
                  <a:srgbClr val="0F1B2D"/>
                </a:solidFill>
                <a:latin typeface="+mn-lt"/>
              </a:rPr>
              <a:t>Validation score (threshold 0.5)</a:t>
            </a:r>
          </a:p>
        </c:rich>
      </c:tx>
      <c:layout/>
      <c:overlay val="0"/>
    </c:title>
    <c:autoTitleDeleted val="0"/>
    <c:plotArea>
      <c:layout/>
      <c:lineChart>
        <c:varyColors val="0"/>
        <c:ser>
          <c:idx val="0"/>
          <c:order val="0"/>
          <c:tx>
            <c:strRef>
              <c:f>Sheet1!$B$1</c:f>
              <c:strCache>
                <c:ptCount val="1"/>
                <c:pt idx="0">
                  <c:v>Val score</c:v>
                </c:pt>
              </c:strCache>
            </c:strRef>
          </c:tx>
          <c:spPr>
            <a:solidFill>
              <a:srgbClr val="0E9F8E"/>
            </a:solidFill>
            <a:ln w="38100" cap="flat">
              <a:solidFill>
                <a:srgbClr val="0E9F8E"/>
              </a:solidFill>
              <a:prstDash val="solid"/>
              <a:round/>
            </a:ln>
            <a:effectLst/>
          </c:spPr>
          <c:invertIfNegative val="0"/>
          <c:dLbls>
            <c:numFmt formatCode="0.0" sourceLinked="0"/>
            <c:txPr>
              <a:bodyPr/>
              <a:lstStyle/>
              <a:p>
                <a:pPr>
                  <a:defRPr b="0" i="0" strike="noStrike" sz="1000" u="none">
                    <a:solidFill>
                      <a:srgbClr val="0F1B2D"/>
                    </a:solidFill>
                    <a:latin typeface="+mn-lt"/>
                  </a:defRPr>
                </a:pPr>
              </a:p>
            </c:txPr>
            <c:dLblPos val="t"/>
            <c:showLegendKey val="0"/>
            <c:showVal val="1"/>
            <c:showCatName val="0"/>
            <c:showSerName val="0"/>
            <c:showPercent val="0"/>
            <c:showBubbleSize val="0"/>
            <c:showLeaderLines val="0"/>
          </c:dLbls>
          <c:marker>
            <c:symbol val="circle"/>
            <c:size val="9"/>
            <c:spPr>
              <a:solidFill>
                <a:srgbClr val="0E9F8E"/>
              </a:solidFill>
              <a:ln w="9525" cap="flat">
                <a:solidFill>
                  <a:srgbClr val="0E9F8E"/>
                </a:solidFill>
                <a:prstDash val="solid"/>
                <a:round/>
              </a:ln>
              <a:effectLst/>
            </c:spPr>
          </c:marker>
          <c:cat>
            <c:multiLvlStrRef>
              <c:f>Sheet1!$A$2:$A$4</c:f>
              <c:multiLvlStrCache>
                <c:ptCount val="3"/>
                <c:lvl>
                  <c:pt idx="0">
                    <c:v>Epoch 1</c:v>
                  </c:pt>
                  <c:pt idx="1">
                    <c:v>Epoch 2</c:v>
                  </c:pt>
                  <c:pt idx="2">
                    <c:v>Epoch 3</c:v>
                  </c:pt>
                </c:lvl>
              </c:multiLvlStrCache>
            </c:multiLvlStrRef>
          </c:cat>
          <c:val>
            <c:numRef>
              <c:f>Sheet1!$B$2:$B$4</c:f>
              <c:numCache>
                <c:formatCode>General</c:formatCode>
                <c:ptCount val="3"/>
                <c:pt idx="0">
                  <c:v>81.31</c:v>
                </c:pt>
                <c:pt idx="1">
                  <c:v>84.86</c:v>
                </c:pt>
                <c:pt idx="2">
                  <c:v>85.4</c:v>
                </c:pt>
              </c:numCache>
            </c:numRef>
          </c:val>
          <c:smooth val="0"/>
        </c:ser>
        <c:dLbls>
          <c:numFmt formatCode="0.0" sourceLinked="0"/>
          <c:txPr>
            <a:bodyPr/>
            <a:lstStyle/>
            <a:p>
              <a:pPr>
                <a:defRPr b="0" i="0" strike="noStrike" sz="1000" u="none">
                  <a:solidFill>
                    <a:srgbClr val="0F1B2D"/>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C"/>
                </a:solidFill>
                <a:latin typeface="+mn-lt"/>
              </a:defRPr>
            </a:pPr>
            <a:endParaRPr lang="en-US"/>
          </a:p>
        </c:txPr>
        <c:crossAx val="2094734552"/>
        <c:crosses val="autoZero"/>
        <c:auto val="1"/>
        <c:lblAlgn val="ctr"/>
        <c:noMultiLvlLbl val="1"/>
      </c:catAx>
      <c:valAx>
        <c:axId val="2094734552"/>
        <c:scaling>
          <c:orientation val="minMax"/>
          <c:max val="88"/>
          <c:min val="7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415C"/>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B2D"/>
                </a:solidFill>
                <a:latin typeface="+mn-lt"/>
              </a:defRPr>
            </a:pPr>
            <a:r>
              <a:rPr sz="1300" b="0" i="0" u="none" strike="noStrike">
                <a:solidFill>
                  <a:srgbClr val="0F1B2D"/>
                </a:solidFill>
                <a:latin typeface="+mn-lt"/>
              </a:rPr>
              <a:t>Score per dataset (%)</a:t>
            </a:r>
          </a:p>
        </c:rich>
      </c:tx>
      <c:layout/>
      <c:overlay val="0"/>
    </c:title>
    <c:autoTitleDeleted val="0"/>
    <c:plotArea>
      <c:layout/>
      <c:barChart>
        <c:barDir val="col"/>
        <c:grouping val="clustered"/>
        <c:varyColors val="0"/>
        <c:ser>
          <c:idx val="0"/>
          <c:order val="0"/>
          <c:tx>
            <c:strRef>
              <c:f>Sheet1!$B$1</c:f>
              <c:strCache>
                <c:ptCount val="1"/>
                <c:pt idx="0">
                  <c:v>Prior baseline</c:v>
                </c:pt>
              </c:strCache>
            </c:strRef>
          </c:tx>
          <c:spPr>
            <a:solidFill>
              <a:srgbClr val="8FA3BF"/>
            </a:solidFill>
            <a:effectLst/>
          </c:spPr>
          <c:invertIfNegative val="0"/>
          <c:dLbls>
            <c:numFmt formatCode="0.0" sourceLinked="0"/>
            <c:txPr>
              <a:bodyPr/>
              <a:lstStyle/>
              <a:p>
                <a:pPr>
                  <a:defRPr b="0" i="0" strike="noStrike" sz="10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Market1501</c:v>
                  </c:pt>
                  <c:pt idx="1">
                    <c:v>PA100k</c:v>
                  </c:pt>
                  <c:pt idx="2">
                    <c:v>PETA</c:v>
                  </c:pt>
                </c:lvl>
              </c:multiLvlStrCache>
            </c:multiLvlStrRef>
          </c:cat>
          <c:val>
            <c:numRef>
              <c:f>Sheet1!$B$2:$B$4</c:f>
              <c:numCache>
                <c:formatCode>General</c:formatCode>
                <c:ptCount val="3"/>
                <c:pt idx="0">
                  <c:v>58.17</c:v>
                </c:pt>
                <c:pt idx="1">
                  <c:v>53.28</c:v>
                </c:pt>
                <c:pt idx="2">
                  <c:v>51.4</c:v>
                </c:pt>
              </c:numCache>
            </c:numRef>
          </c:val>
        </c:ser>
        <c:ser>
          <c:idx val="1"/>
          <c:order val="1"/>
          <c:tx>
            <c:strRef>
              <c:f>Sheet1!$C$1</c:f>
              <c:strCache>
                <c:ptCount val="1"/>
                <c:pt idx="0">
                  <c:v>ResNet50 @0.5</c:v>
                </c:pt>
              </c:strCache>
            </c:strRef>
          </c:tx>
          <c:spPr>
            <a:solidFill>
              <a:srgbClr val="5BC0BE"/>
            </a:solidFill>
            <a:effectLst/>
          </c:spPr>
          <c:invertIfNegative val="0"/>
          <c:dLbls>
            <c:numFmt formatCode="0.0" sourceLinked="0"/>
            <c:txPr>
              <a:bodyPr/>
              <a:lstStyle/>
              <a:p>
                <a:pPr>
                  <a:defRPr b="0" i="0" strike="noStrike" sz="10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Market1501</c:v>
                  </c:pt>
                  <c:pt idx="1">
                    <c:v>PA100k</c:v>
                  </c:pt>
                  <c:pt idx="2">
                    <c:v>PETA</c:v>
                  </c:pt>
                </c:lvl>
              </c:multiLvlStrCache>
            </c:multiLvlStrRef>
          </c:cat>
          <c:val>
            <c:numRef>
              <c:f>Sheet1!$C$2:$C$4</c:f>
              <c:numCache>
                <c:formatCode>General</c:formatCode>
                <c:ptCount val="3"/>
                <c:pt idx="0">
                  <c:v>86.46</c:v>
                </c:pt>
                <c:pt idx="1">
                  <c:v>84.24</c:v>
                </c:pt>
                <c:pt idx="2">
                  <c:v>86.08</c:v>
                </c:pt>
              </c:numCache>
            </c:numRef>
          </c:val>
        </c:ser>
        <c:ser>
          <c:idx val="2"/>
          <c:order val="2"/>
          <c:tx>
            <c:strRef>
              <c:f>Sheet1!$D$1</c:f>
              <c:strCache>
                <c:ptCount val="1"/>
                <c:pt idx="0">
                  <c:v>ResNet50 + tuned</c:v>
                </c:pt>
              </c:strCache>
            </c:strRef>
          </c:tx>
          <c:spPr>
            <a:solidFill>
              <a:srgbClr val="0E9F8E"/>
            </a:solidFill>
            <a:effectLst/>
          </c:spPr>
          <c:invertIfNegative val="0"/>
          <c:dLbls>
            <c:numFmt formatCode="0.0" sourceLinked="0"/>
            <c:txPr>
              <a:bodyPr/>
              <a:lstStyle/>
              <a:p>
                <a:pPr>
                  <a:defRPr b="0" i="0" strike="noStrike" sz="10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Market1501</c:v>
                  </c:pt>
                  <c:pt idx="1">
                    <c:v>PA100k</c:v>
                  </c:pt>
                  <c:pt idx="2">
                    <c:v>PETA</c:v>
                  </c:pt>
                </c:lvl>
              </c:multiLvlStrCache>
            </c:multiLvlStrRef>
          </c:cat>
          <c:val>
            <c:numRef>
              <c:f>Sheet1!$D$2:$D$4</c:f>
              <c:numCache>
                <c:formatCode>General</c:formatCode>
                <c:ptCount val="3"/>
                <c:pt idx="0">
                  <c:v>87.1</c:v>
                </c:pt>
                <c:pt idx="1">
                  <c:v>85.72</c:v>
                </c:pt>
                <c:pt idx="2">
                  <c:v>86.93</c:v>
                </c:pt>
              </c:numCache>
            </c:numRef>
          </c:val>
        </c:ser>
        <c:dLbls>
          <c:numFmt formatCode="0.0" sourceLinked="0"/>
          <c:txPr>
            <a:bodyPr/>
            <a:lstStyle/>
            <a:p>
              <a:pPr>
                <a:defRPr b="0" i="0" strike="noStrike" sz="1000" u="none">
                  <a:solidFill>
                    <a:srgbClr val="0F1B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C"/>
                </a:solidFill>
                <a:latin typeface="+mn-lt"/>
              </a:defRPr>
            </a:pPr>
            <a:endParaRPr lang="en-US"/>
          </a:p>
        </c:txPr>
        <c:crossAx val="2094734552"/>
        <c:crosses val="autoZero"/>
        <c:auto val="1"/>
        <c:lblAlgn val="ctr"/>
        <c:noMultiLvlLbl val="1"/>
      </c:catAx>
      <c:valAx>
        <c:axId val="2094734552"/>
        <c:scaling>
          <c:orientation val="minMax"/>
          <c:max val="95"/>
          <c:min val="4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4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B2D"/>
                </a:solidFill>
                <a:latin typeface="+mn-lt"/>
              </a:defRPr>
            </a:pPr>
            <a:r>
              <a:rPr sz="1300" b="0" i="0" u="none" strike="noStrike">
                <a:solidFill>
                  <a:srgbClr val="0F1B2D"/>
                </a:solidFill>
                <a:latin typeface="+mn-lt"/>
              </a:rPr>
              <a:t>Lowest mA attributes (positive rate)</a:t>
            </a:r>
          </a:p>
        </c:rich>
      </c:tx>
      <c:layout/>
      <c:overlay val="0"/>
    </c:title>
    <c:autoTitleDeleted val="0"/>
    <c:plotArea>
      <c:layout/>
      <c:barChart>
        <c:barDir val="bar"/>
        <c:grouping val="clustered"/>
        <c:varyColors val="0"/>
        <c:ser>
          <c:idx val="0"/>
          <c:order val="0"/>
          <c:tx>
            <c:strRef>
              <c:f>Sheet1!$B$1</c:f>
              <c:strCache>
                <c:ptCount val="1"/>
                <c:pt idx="0">
                  <c:v>mA</c:v>
                </c:pt>
              </c:strCache>
            </c:strRef>
          </c:tx>
          <c:spPr>
            <a:solidFill>
              <a:srgbClr val="D9534F"/>
            </a:solidFill>
            <a:effectLst/>
          </c:spPr>
          <c:invertIfNegative val="0"/>
          <c:dLbls>
            <c:numFmt formatCode="0.0" sourceLinked="0"/>
            <c:txPr>
              <a:bodyPr/>
              <a:lstStyle/>
              <a:p>
                <a:pPr>
                  <a:defRPr b="0" i="0" strike="noStrike" sz="1000" u="none">
                    <a:solidFill>
                      <a:srgbClr val="0F1B2D"/>
                    </a:solidFill>
                    <a:latin typeface="+mn-lt"/>
                  </a:defRPr>
                </a:pPr>
              </a:p>
            </c:txPr>
            <c:showLegendKey val="0"/>
            <c:showVal val="1"/>
            <c:showCatName val="0"/>
            <c:showSerName val="0"/>
            <c:showPercent val="0"/>
            <c:showBubbleSize val="0"/>
            <c:showLeaderLines val="0"/>
          </c:dLbls>
          <c:cat>
            <c:multiLvlStrRef>
              <c:f>Sheet1!$A$2:$A$7</c:f>
              <c:multiLvlStrCache>
                <c:ptCount val="6"/>
                <c:lvl>
                  <c:pt idx="0">
                    <c:v>Sunglasses (2.2%)</c:v>
                  </c:pt>
                  <c:pt idx="1">
                    <c:v>Young age (1.1%)</c:v>
                  </c:pt>
                  <c:pt idx="2">
                    <c:v>LowerBody colour other (3.7%)</c:v>
                  </c:pt>
                  <c:pt idx="3">
                    <c:v>Bald (1.3%)</c:v>
                  </c:pt>
                  <c:pt idx="4">
                    <c:v>Bag (29.3%)</c:v>
                  </c:pt>
                  <c:pt idx="5">
                    <c:v>Normal glasses (13.9%)</c:v>
                  </c:pt>
                </c:lvl>
              </c:multiLvlStrCache>
            </c:multiLvlStrRef>
          </c:cat>
          <c:val>
            <c:numRef>
              <c:f>Sheet1!$B$2:$B$7</c:f>
              <c:numCache>
                <c:formatCode>General</c:formatCode>
                <c:ptCount val="6"/>
                <c:pt idx="0">
                  <c:v>63.85</c:v>
                </c:pt>
                <c:pt idx="1">
                  <c:v>77</c:v>
                </c:pt>
                <c:pt idx="2">
                  <c:v>77.55</c:v>
                </c:pt>
                <c:pt idx="3">
                  <c:v>77.79</c:v>
                </c:pt>
                <c:pt idx="4">
                  <c:v>77.79</c:v>
                </c:pt>
                <c:pt idx="5">
                  <c:v>78.32</c:v>
                </c:pt>
              </c:numCache>
            </c:numRef>
          </c:val>
        </c:ser>
        <c:dLbls>
          <c:numFmt formatCode="0.0" sourceLinked="0"/>
          <c:txPr>
            <a:bodyPr/>
            <a:lstStyle/>
            <a:p>
              <a:pPr>
                <a:defRPr b="0" i="0" strike="noStrike" sz="1000" u="none">
                  <a:solidFill>
                    <a:srgbClr val="0F1B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C"/>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Hafsa and Sara. Our CV assignment is Track 1 of the UPAR Challenge 2027: recognising attributes of pedestrians in surveillance images. We fine-tuned our own ResNet50 and submitted it to Codabench.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 gets 40 yes/no answers. The attributes cover age, gender, hair, upper and lower body clothes and colours, and accessories. On the right is a real example and what our model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set is mostly PA100k, but validation is mostly Market1501, so the mix is different. Half of the attributes are very rare, for example sunglasses are in about 2 percent of images. The official baseline that just predicts the prior scores 54.28.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resize every crop to 256 by 128 and use light augmentation. ResNet50 pretrained on ImageNet gives the features, and we replaced the last layer with 40 outputs. The loss gives more weight to rare attributes. At the end we tune one threshold per attribute on the validation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took about 7 minutes per epoch on a Colab T4, so 21 minutes total. The score kept going up every epoch but the gain got smaller, so more epochs would help a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32 points above the baseline on every dataset. Threshold tuning adds about 1 point, and when we tuned on one half and tested on the other half the gain stayed, so it is not just overfitting. PA100k is the hardest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weakest attributes. Most of them are rare, like sunglasses, young age and bald. Bags and glasses are also small details. Lower body colours have low F1 because colours look different under different 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validation set our model scores 86.58, but on the hidden Codabench test set it scores 74.06. The test images come from a new domain the model never saw, so this 12.5 point drop shows how strong the domain shift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challenges were rare attributes, domain shift between datasets, and practical Colab problems. We fixed the Colab problems with checkpoints every epoch and a resume option. Next we would train longer and use a loss made for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quick live demo: we run test_model.py on sample images, then check_submission.py, which tests the Codabench package offline. Our hidden test score on Codabench is 0.7406, lower than 0.866 on validation because the test images come from a new domain. Thank you,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3"/>
                </a:solidFill>
              </a:rPr>
              <a:t>CV A2 | UPAR 2027 Track 1</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Pedestrian Attribute Recognition</a:t>
            </a:r>
            <a:endParaRPr lang="en-US" sz="3800" dirty="0"/>
          </a:p>
        </p:txBody>
      </p:sp>
      <p:sp>
        <p:nvSpPr>
          <p:cNvPr id="3" name="Text 1"/>
          <p:cNvSpPr txBox="1"/>
          <p:nvPr/>
        </p:nvSpPr>
        <p:spPr>
          <a:xfrm>
            <a:off x="548640" y="2926080"/>
            <a:ext cx="4937760" cy="365760"/>
          </a:xfrm>
          <a:prstGeom prst="rect">
            <a:avLst/>
          </a:prstGeom>
          <a:noFill/>
          <a:ln/>
        </p:spPr>
        <p:txBody>
          <a:bodyPr wrap="square" lIns="0" tIns="0" rIns="0" bIns="0" rtlCol="0" anchor="ctr"/>
          <a:lstStyle/>
          <a:p>
            <a:pPr indent="0" marL="0">
              <a:buNone/>
            </a:pPr>
            <a:r>
              <a:rPr lang="en-US" sz="1600" dirty="0">
                <a:solidFill>
                  <a:schemeClr val="accent6"/>
                </a:solidFill>
              </a:rPr>
              <a:t>UPAR Challenge 2027, Track 1 | ResNet50 fine-tuning</a:t>
            </a:r>
            <a:endParaRPr lang="en-US" sz="1600" dirty="0"/>
          </a:p>
        </p:txBody>
      </p:sp>
      <p:sp>
        <p:nvSpPr>
          <p:cNvPr id="4" name="Text 2"/>
          <p:cNvSpPr txBox="1"/>
          <p:nvPr/>
        </p:nvSpPr>
        <p:spPr>
          <a:xfrm>
            <a:off x="548640" y="3429000"/>
            <a:ext cx="4937760" cy="640080"/>
          </a:xfrm>
          <a:prstGeom prst="rect">
            <a:avLst/>
          </a:prstGeom>
          <a:noFill/>
          <a:ln/>
        </p:spPr>
        <p:txBody>
          <a:bodyPr wrap="square" lIns="0" tIns="0" rIns="0" bIns="0" rtlCol="0" anchor="ctr"/>
          <a:lstStyle/>
          <a:p>
            <a:pPr indent="0" marL="0">
              <a:buNone/>
            </a:pPr>
            <a:r>
              <a:rPr lang="en-US" sz="1300" dirty="0">
                <a:solidFill>
                  <a:schemeClr val="bg2"/>
                </a:solidFill>
              </a:rPr>
              <a:t>Hafsa Rashid (23K-0064)  |  Syeda Sara Ali (23K-0070)</a:t>
            </a:r>
            <a:endParaRPr lang="en-US" sz="1300" dirty="0"/>
          </a:p>
          <a:p>
            <a:pPr indent="0" marL="0">
              <a:buNone/>
            </a:pPr>
            <a:r>
              <a:rPr lang="en-US" sz="1300" dirty="0">
                <a:solidFill>
                  <a:schemeClr val="bg2"/>
                </a:solidFill>
              </a:rPr>
              <a:t>Computer Vision (AI-4002), FAST NUCES Karachi</a:t>
            </a:r>
            <a:endParaRPr lang="en-US" sz="1300" dirty="0"/>
          </a:p>
        </p:txBody>
      </p:sp>
      <p:pic>
        <p:nvPicPr>
          <p:cNvPr id="5" name="pedestrian crops" descr="/tmp/claude-0/-home-claude/a9ae0123-95d5-552d-a5e4-84db8e01c3a1/scratchpad/z1/sample_images/crops_sheet.png">    </p:cNvPr>
          <p:cNvPicPr>
            <a:picLocks noChangeAspect="1"/>
          </p:cNvPicPr>
          <p:nvPr/>
        </p:nvPicPr>
        <p:blipFill>
          <a:blip r:embed="rId1"/>
          <a:stretch>
            <a:fillRect/>
          </a:stretch>
        </p:blipFill>
        <p:spPr>
          <a:xfrm>
            <a:off x="5760720" y="1051560"/>
            <a:ext cx="2926080" cy="1856232"/>
          </a:xfrm>
          <a:prstGeom prst="rect">
            <a:avLst/>
          </a:prstGeom>
        </p:spPr>
      </p:pic>
      <p:sp>
        <p:nvSpPr>
          <p:cNvPr id="6" name="Text 3"/>
          <p:cNvSpPr txBox="1"/>
          <p:nvPr/>
        </p:nvSpPr>
        <p:spPr>
          <a:xfrm>
            <a:off x="5760720" y="3017520"/>
            <a:ext cx="2926080" cy="274320"/>
          </a:xfrm>
          <a:prstGeom prst="rect">
            <a:avLst/>
          </a:prstGeom>
          <a:noFill/>
          <a:ln/>
        </p:spPr>
        <p:txBody>
          <a:bodyPr wrap="square" lIns="0" tIns="0" rIns="0" bIns="0" rtlCol="0" anchor="ctr"/>
          <a:lstStyle/>
          <a:p>
            <a:pPr indent="0" marL="0">
              <a:buNone/>
            </a:pPr>
            <a:r>
              <a:rPr lang="en-US" sz="1100" i="1" dirty="0">
                <a:solidFill>
                  <a:schemeClr val="accent3"/>
                </a:solidFill>
              </a:rPr>
              <a:t>Real surveillance crops, 40 attributes each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task: 40 yes/no questions per person</a:t>
            </a:r>
            <a:endParaRPr lang="en-US" sz="3000" dirty="0"/>
          </a:p>
        </p:txBody>
      </p:sp>
      <p:sp>
        <p:nvSpPr>
          <p:cNvPr id="3" name="Text 1"/>
          <p:cNvSpPr txBox="1"/>
          <p:nvPr/>
        </p:nvSpPr>
        <p:spPr>
          <a:xfrm>
            <a:off x="457200" y="1188720"/>
            <a:ext cx="4754880" cy="20116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Input: </a:t>
            </a:r>
            <a:pPr indent="0" marL="0">
              <a:spcAft>
                <a:spcPts val="800"/>
              </a:spcAft>
              <a:buNone/>
            </a:pPr>
            <a:r>
              <a:rPr lang="en-US" sz="1500" dirty="0">
                <a:solidFill>
                  <a:schemeClr val="tx1"/>
                </a:solidFill>
              </a:rPr>
              <a:t>one cropped person image from a CCTV camera</a:t>
            </a:r>
            <a:endParaRPr lang="en-US" sz="1500" dirty="0"/>
          </a:p>
          <a:p>
            <a:pPr indent="0" marL="0">
              <a:spcAft>
                <a:spcPts val="800"/>
              </a:spcAft>
              <a:buNone/>
            </a:pPr>
            <a:r>
              <a:rPr lang="en-US" sz="1500" b="1" dirty="0">
                <a:solidFill>
                  <a:schemeClr val="tx1"/>
                </a:solidFill>
              </a:rPr>
              <a:t>Output: </a:t>
            </a:r>
            <a:pPr indent="0" marL="0">
              <a:spcAft>
                <a:spcPts val="800"/>
              </a:spcAft>
              <a:buNone/>
            </a:pPr>
            <a:r>
              <a:rPr lang="en-US" sz="1500" dirty="0">
                <a:solidFill>
                  <a:schemeClr val="tx1"/>
                </a:solidFill>
              </a:rPr>
              <a:t>40 probabilities, one per attribute</a:t>
            </a:r>
            <a:endParaRPr lang="en-US" sz="1500" dirty="0"/>
          </a:p>
          <a:p>
            <a:pPr indent="0" marL="0">
              <a:spcAft>
                <a:spcPts val="800"/>
              </a:spcAft>
              <a:buNone/>
            </a:pPr>
            <a:r>
              <a:rPr lang="en-US" sz="1500" b="1" dirty="0">
                <a:solidFill>
                  <a:schemeClr val="tx1"/>
                </a:solidFill>
              </a:rPr>
              <a:t>Type: </a:t>
            </a:r>
            <a:pPr indent="0" marL="0">
              <a:spcAft>
                <a:spcPts val="800"/>
              </a:spcAft>
              <a:buNone/>
            </a:pPr>
            <a:r>
              <a:rPr lang="en-US" sz="1500" dirty="0">
                <a:solidFill>
                  <a:schemeClr val="tx1"/>
                </a:solidFill>
              </a:rPr>
              <a:t>multi-label classification (many answers can be yes)</a:t>
            </a:r>
            <a:endParaRPr lang="en-US" sz="1500" dirty="0"/>
          </a:p>
          <a:p>
            <a:pPr indent="0" marL="0">
              <a:spcAft>
                <a:spcPts val="800"/>
              </a:spcAft>
              <a:buNone/>
            </a:pPr>
            <a:r>
              <a:rPr lang="en-US" sz="1500" b="1" dirty="0">
                <a:solidFill>
                  <a:schemeClr val="tx1"/>
                </a:solidFill>
              </a:rPr>
              <a:t>Hard part: </a:t>
            </a:r>
            <a:pPr indent="0" marL="0">
              <a:spcAft>
                <a:spcPts val="800"/>
              </a:spcAft>
              <a:buNone/>
            </a:pPr>
            <a:r>
              <a:rPr lang="en-US" sz="1500" dirty="0">
                <a:solidFill>
                  <a:schemeClr val="tx1"/>
                </a:solidFill>
              </a:rPr>
              <a:t>train and test images come from different datasets and cameras (domain shift)</a:t>
            </a:r>
            <a:endParaRPr lang="en-US" sz="1500" dirty="0"/>
          </a:p>
        </p:txBody>
      </p:sp>
      <p:sp>
        <p:nvSpPr>
          <p:cNvPr id="4" name="group Age"/>
          <p:cNvSpPr/>
          <p:nvPr/>
        </p:nvSpPr>
        <p:spPr>
          <a:xfrm>
            <a:off x="457200" y="3383280"/>
            <a:ext cx="1463040" cy="502920"/>
          </a:xfrm>
          <a:prstGeom prst="roundRect">
            <a:avLst>
              <a:gd name="adj" fmla="val 14545"/>
            </a:avLst>
          </a:prstGeom>
          <a:solidFill>
            <a:srgbClr val="EEF2F7"/>
          </a:solidFill>
          <a:ln w="12700">
            <a:solidFill>
              <a:srgbClr val="EEF2F7"/>
            </a:solidFill>
            <a:prstDash val="solid"/>
          </a:ln>
        </p:spPr>
      </p:sp>
      <p:sp>
        <p:nvSpPr>
          <p:cNvPr id="5" name="Text 3"/>
          <p:cNvSpPr txBox="1"/>
          <p:nvPr/>
        </p:nvSpPr>
        <p:spPr>
          <a:xfrm>
            <a:off x="566928" y="3383280"/>
            <a:ext cx="1280160" cy="502920"/>
          </a:xfrm>
          <a:prstGeom prst="rect">
            <a:avLst/>
          </a:prstGeom>
          <a:noFill/>
          <a:ln/>
        </p:spPr>
        <p:txBody>
          <a:bodyPr wrap="square" lIns="0" tIns="0" rIns="0" bIns="0" rtlCol="0" anchor="ctr"/>
          <a:lstStyle/>
          <a:p>
            <a:pPr indent="0" marL="0">
              <a:buNone/>
            </a:pPr>
            <a:r>
              <a:rPr lang="en-US" sz="1600" b="1" dirty="0">
                <a:solidFill>
                  <a:schemeClr val="accent1"/>
                </a:solidFill>
              </a:rPr>
              <a:t>3  </a:t>
            </a:r>
            <a:pPr indent="0" marL="0">
              <a:buNone/>
            </a:pPr>
            <a:r>
              <a:rPr lang="en-US" sz="1300" dirty="0">
                <a:solidFill>
                  <a:schemeClr val="tx1"/>
                </a:solidFill>
              </a:rPr>
              <a:t>Age</a:t>
            </a:r>
            <a:endParaRPr lang="en-US" sz="1400" dirty="0"/>
          </a:p>
        </p:txBody>
      </p:sp>
      <p:sp>
        <p:nvSpPr>
          <p:cNvPr id="6" name="group Gender"/>
          <p:cNvSpPr/>
          <p:nvPr/>
        </p:nvSpPr>
        <p:spPr>
          <a:xfrm>
            <a:off x="2057400" y="3383280"/>
            <a:ext cx="1463040" cy="502920"/>
          </a:xfrm>
          <a:prstGeom prst="roundRect">
            <a:avLst>
              <a:gd name="adj" fmla="val 14545"/>
            </a:avLst>
          </a:prstGeom>
          <a:solidFill>
            <a:srgbClr val="EEF2F7"/>
          </a:solidFill>
          <a:ln w="12700">
            <a:solidFill>
              <a:srgbClr val="EEF2F7"/>
            </a:solidFill>
            <a:prstDash val="solid"/>
          </a:ln>
        </p:spPr>
      </p:sp>
      <p:sp>
        <p:nvSpPr>
          <p:cNvPr id="7" name="Text 5"/>
          <p:cNvSpPr txBox="1"/>
          <p:nvPr/>
        </p:nvSpPr>
        <p:spPr>
          <a:xfrm>
            <a:off x="2167128" y="3383280"/>
            <a:ext cx="1280160" cy="502920"/>
          </a:xfrm>
          <a:prstGeom prst="rect">
            <a:avLst/>
          </a:prstGeom>
          <a:noFill/>
          <a:ln/>
        </p:spPr>
        <p:txBody>
          <a:bodyPr wrap="square" lIns="0" tIns="0" rIns="0" bIns="0" rtlCol="0" anchor="ctr"/>
          <a:lstStyle/>
          <a:p>
            <a:pPr indent="0" marL="0">
              <a:buNone/>
            </a:pPr>
            <a:r>
              <a:rPr lang="en-US" sz="1600" b="1" dirty="0">
                <a:solidFill>
                  <a:schemeClr val="accent1"/>
                </a:solidFill>
              </a:rPr>
              <a:t>1  </a:t>
            </a:r>
            <a:pPr indent="0" marL="0">
              <a:buNone/>
            </a:pPr>
            <a:r>
              <a:rPr lang="en-US" sz="1300" dirty="0">
                <a:solidFill>
                  <a:schemeClr val="tx1"/>
                </a:solidFill>
              </a:rPr>
              <a:t>Gender</a:t>
            </a:r>
            <a:endParaRPr lang="en-US" sz="1400" dirty="0"/>
          </a:p>
        </p:txBody>
      </p:sp>
      <p:sp>
        <p:nvSpPr>
          <p:cNvPr id="8" name="group Hair"/>
          <p:cNvSpPr/>
          <p:nvPr/>
        </p:nvSpPr>
        <p:spPr>
          <a:xfrm>
            <a:off x="3657600" y="3383280"/>
            <a:ext cx="1463040" cy="502920"/>
          </a:xfrm>
          <a:prstGeom prst="roundRect">
            <a:avLst>
              <a:gd name="adj" fmla="val 14545"/>
            </a:avLst>
          </a:prstGeom>
          <a:solidFill>
            <a:srgbClr val="EEF2F7"/>
          </a:solidFill>
          <a:ln w="12700">
            <a:solidFill>
              <a:srgbClr val="EEF2F7"/>
            </a:solidFill>
            <a:prstDash val="solid"/>
          </a:ln>
        </p:spPr>
      </p:sp>
      <p:sp>
        <p:nvSpPr>
          <p:cNvPr id="9" name="Text 7"/>
          <p:cNvSpPr txBox="1"/>
          <p:nvPr/>
        </p:nvSpPr>
        <p:spPr>
          <a:xfrm>
            <a:off x="3767328" y="3383280"/>
            <a:ext cx="1280160" cy="502920"/>
          </a:xfrm>
          <a:prstGeom prst="rect">
            <a:avLst/>
          </a:prstGeom>
          <a:noFill/>
          <a:ln/>
        </p:spPr>
        <p:txBody>
          <a:bodyPr wrap="square" lIns="0" tIns="0" rIns="0" bIns="0" rtlCol="0" anchor="ctr"/>
          <a:lstStyle/>
          <a:p>
            <a:pPr indent="0" marL="0">
              <a:buNone/>
            </a:pPr>
            <a:r>
              <a:rPr lang="en-US" sz="1600" b="1" dirty="0">
                <a:solidFill>
                  <a:schemeClr val="accent1"/>
                </a:solidFill>
              </a:rPr>
              <a:t>3  </a:t>
            </a:r>
            <a:pPr indent="0" marL="0">
              <a:buNone/>
            </a:pPr>
            <a:r>
              <a:rPr lang="en-US" sz="1300" dirty="0">
                <a:solidFill>
                  <a:schemeClr val="tx1"/>
                </a:solidFill>
              </a:rPr>
              <a:t>Hair</a:t>
            </a:r>
            <a:endParaRPr lang="en-US" sz="1400" dirty="0"/>
          </a:p>
        </p:txBody>
      </p:sp>
      <p:sp>
        <p:nvSpPr>
          <p:cNvPr id="10" name="group Upper body"/>
          <p:cNvSpPr/>
          <p:nvPr/>
        </p:nvSpPr>
        <p:spPr>
          <a:xfrm>
            <a:off x="457200" y="4023360"/>
            <a:ext cx="1463040" cy="502920"/>
          </a:xfrm>
          <a:prstGeom prst="roundRect">
            <a:avLst>
              <a:gd name="adj" fmla="val 14545"/>
            </a:avLst>
          </a:prstGeom>
          <a:solidFill>
            <a:srgbClr val="EEF2F7"/>
          </a:solidFill>
          <a:ln w="12700">
            <a:solidFill>
              <a:srgbClr val="EEF2F7"/>
            </a:solidFill>
            <a:prstDash val="solid"/>
          </a:ln>
        </p:spPr>
      </p:sp>
      <p:sp>
        <p:nvSpPr>
          <p:cNvPr id="11" name="Text 9"/>
          <p:cNvSpPr txBox="1"/>
          <p:nvPr/>
        </p:nvSpPr>
        <p:spPr>
          <a:xfrm>
            <a:off x="566928" y="4023360"/>
            <a:ext cx="1280160" cy="502920"/>
          </a:xfrm>
          <a:prstGeom prst="rect">
            <a:avLst/>
          </a:prstGeom>
          <a:noFill/>
          <a:ln/>
        </p:spPr>
        <p:txBody>
          <a:bodyPr wrap="square" lIns="0" tIns="0" rIns="0" bIns="0" rtlCol="0" anchor="ctr"/>
          <a:lstStyle/>
          <a:p>
            <a:pPr indent="0" marL="0">
              <a:buNone/>
            </a:pPr>
            <a:r>
              <a:rPr lang="en-US" sz="1600" b="1" dirty="0">
                <a:solidFill>
                  <a:schemeClr val="accent1"/>
                </a:solidFill>
              </a:rPr>
              <a:t>13  </a:t>
            </a:r>
            <a:pPr indent="0" marL="0">
              <a:buNone/>
            </a:pPr>
            <a:r>
              <a:rPr lang="en-US" sz="1300" dirty="0">
                <a:solidFill>
                  <a:schemeClr val="tx1"/>
                </a:solidFill>
              </a:rPr>
              <a:t>Upper body</a:t>
            </a:r>
            <a:endParaRPr lang="en-US" sz="1400" dirty="0"/>
          </a:p>
        </p:txBody>
      </p:sp>
      <p:sp>
        <p:nvSpPr>
          <p:cNvPr id="12" name="group Lower body"/>
          <p:cNvSpPr/>
          <p:nvPr/>
        </p:nvSpPr>
        <p:spPr>
          <a:xfrm>
            <a:off x="2057400" y="4023360"/>
            <a:ext cx="1463040" cy="502920"/>
          </a:xfrm>
          <a:prstGeom prst="roundRect">
            <a:avLst>
              <a:gd name="adj" fmla="val 14545"/>
            </a:avLst>
          </a:prstGeom>
          <a:solidFill>
            <a:srgbClr val="EEF2F7"/>
          </a:solidFill>
          <a:ln w="12700">
            <a:solidFill>
              <a:srgbClr val="EEF2F7"/>
            </a:solidFill>
            <a:prstDash val="solid"/>
          </a:ln>
        </p:spPr>
      </p:sp>
      <p:sp>
        <p:nvSpPr>
          <p:cNvPr id="13" name="Text 11"/>
          <p:cNvSpPr txBox="1"/>
          <p:nvPr/>
        </p:nvSpPr>
        <p:spPr>
          <a:xfrm>
            <a:off x="2167128" y="4023360"/>
            <a:ext cx="1280160" cy="502920"/>
          </a:xfrm>
          <a:prstGeom prst="rect">
            <a:avLst/>
          </a:prstGeom>
          <a:noFill/>
          <a:ln/>
        </p:spPr>
        <p:txBody>
          <a:bodyPr wrap="square" lIns="0" tIns="0" rIns="0" bIns="0" rtlCol="0" anchor="ctr"/>
          <a:lstStyle/>
          <a:p>
            <a:pPr indent="0" marL="0">
              <a:buNone/>
            </a:pPr>
            <a:r>
              <a:rPr lang="en-US" sz="1600" b="1" dirty="0">
                <a:solidFill>
                  <a:schemeClr val="accent1"/>
                </a:solidFill>
              </a:rPr>
              <a:t>15  </a:t>
            </a:r>
            <a:pPr indent="0" marL="0">
              <a:buNone/>
            </a:pPr>
            <a:r>
              <a:rPr lang="en-US" sz="1300" dirty="0">
                <a:solidFill>
                  <a:schemeClr val="tx1"/>
                </a:solidFill>
              </a:rPr>
              <a:t>Lower body</a:t>
            </a:r>
            <a:endParaRPr lang="en-US" sz="1400" dirty="0"/>
          </a:p>
        </p:txBody>
      </p:sp>
      <p:sp>
        <p:nvSpPr>
          <p:cNvPr id="14" name="group Accessories"/>
          <p:cNvSpPr/>
          <p:nvPr/>
        </p:nvSpPr>
        <p:spPr>
          <a:xfrm>
            <a:off x="3657600" y="4023360"/>
            <a:ext cx="1463040" cy="502920"/>
          </a:xfrm>
          <a:prstGeom prst="roundRect">
            <a:avLst>
              <a:gd name="adj" fmla="val 14545"/>
            </a:avLst>
          </a:prstGeom>
          <a:solidFill>
            <a:srgbClr val="EEF2F7"/>
          </a:solidFill>
          <a:ln w="12700">
            <a:solidFill>
              <a:srgbClr val="EEF2F7"/>
            </a:solidFill>
            <a:prstDash val="solid"/>
          </a:ln>
        </p:spPr>
      </p:sp>
      <p:sp>
        <p:nvSpPr>
          <p:cNvPr id="15" name="Text 13"/>
          <p:cNvSpPr txBox="1"/>
          <p:nvPr/>
        </p:nvSpPr>
        <p:spPr>
          <a:xfrm>
            <a:off x="3767328" y="4023360"/>
            <a:ext cx="1280160" cy="502920"/>
          </a:xfrm>
          <a:prstGeom prst="rect">
            <a:avLst/>
          </a:prstGeom>
          <a:noFill/>
          <a:ln/>
        </p:spPr>
        <p:txBody>
          <a:bodyPr wrap="square" lIns="0" tIns="0" rIns="0" bIns="0" rtlCol="0" anchor="ctr"/>
          <a:lstStyle/>
          <a:p>
            <a:pPr indent="0" marL="0">
              <a:buNone/>
            </a:pPr>
            <a:r>
              <a:rPr lang="en-US" sz="1600" b="1" dirty="0">
                <a:solidFill>
                  <a:schemeClr val="accent1"/>
                </a:solidFill>
              </a:rPr>
              <a:t>5  </a:t>
            </a:r>
            <a:pPr indent="0" marL="0">
              <a:buNone/>
            </a:pPr>
            <a:r>
              <a:rPr lang="en-US" sz="1300" dirty="0">
                <a:solidFill>
                  <a:schemeClr val="tx1"/>
                </a:solidFill>
              </a:rPr>
              <a:t>Accessories</a:t>
            </a:r>
            <a:endParaRPr lang="en-US" sz="1400" dirty="0"/>
          </a:p>
        </p:txBody>
      </p:sp>
      <p:pic>
        <p:nvPicPr>
          <p:cNvPr id="16" name="example pedestrian" descr="/tmp/claude-0/-home-claude/a9ae0123-95d5-552d-a5e4-84db8e01c3a1/scratchpad/z1/sample_images/ped3.png">    </p:cNvPr>
          <p:cNvPicPr>
            <a:picLocks noChangeAspect="1"/>
          </p:cNvPicPr>
          <p:nvPr/>
        </p:nvPicPr>
        <p:blipFill>
          <a:blip r:embed="rId1"/>
          <a:stretch>
            <a:fillRect/>
          </a:stretch>
        </p:blipFill>
        <p:spPr>
          <a:xfrm>
            <a:off x="5852160" y="1143000"/>
            <a:ext cx="1371600" cy="2743200"/>
          </a:xfrm>
          <a:prstGeom prst="rect">
            <a:avLst/>
          </a:prstGeom>
        </p:spPr>
      </p:pic>
      <p:sp>
        <p:nvSpPr>
          <p:cNvPr id="17" name="Text 14"/>
          <p:cNvSpPr txBox="1"/>
          <p:nvPr/>
        </p:nvSpPr>
        <p:spPr>
          <a:xfrm>
            <a:off x="7360920" y="1280160"/>
            <a:ext cx="1463040" cy="1463040"/>
          </a:xfrm>
          <a:prstGeom prst="rect">
            <a:avLst/>
          </a:prstGeom>
          <a:noFill/>
          <a:ln/>
        </p:spPr>
        <p:txBody>
          <a:bodyPr wrap="square" lIns="0" tIns="0" rIns="0" bIns="0" rtlCol="0" anchor="ctr"/>
          <a:lstStyle/>
          <a:p>
            <a:pPr indent="0" marL="0">
              <a:spcAft>
                <a:spcPts val="400"/>
              </a:spcAft>
              <a:buNone/>
            </a:pPr>
            <a:r>
              <a:rPr lang="en-US" sz="1200" b="1" dirty="0">
                <a:solidFill>
                  <a:schemeClr val="accent1"/>
                </a:solidFill>
              </a:rPr>
              <a:t>White upper body</a:t>
            </a:r>
            <a:endParaRPr lang="en-US" sz="1200" dirty="0"/>
          </a:p>
          <a:p>
            <a:pPr indent="0" marL="0">
              <a:spcAft>
                <a:spcPts val="400"/>
              </a:spcAft>
              <a:buNone/>
            </a:pPr>
            <a:r>
              <a:rPr lang="en-US" sz="1200" b="1" dirty="0">
                <a:solidFill>
                  <a:schemeClr val="accent1"/>
                </a:solidFill>
              </a:rPr>
              <a:t>Short lower body</a:t>
            </a:r>
            <a:endParaRPr lang="en-US" sz="1200" dirty="0"/>
          </a:p>
          <a:p>
            <a:pPr indent="0" marL="0">
              <a:spcAft>
                <a:spcPts val="400"/>
              </a:spcAft>
              <a:buNone/>
            </a:pPr>
            <a:r>
              <a:rPr lang="en-US" sz="1200" b="1" dirty="0">
                <a:solidFill>
                  <a:schemeClr val="accent1"/>
                </a:solidFill>
              </a:rPr>
              <a:t>Backpack</a:t>
            </a:r>
            <a:endParaRPr lang="en-US" sz="1200" dirty="0"/>
          </a:p>
          <a:p>
            <a:pPr indent="0" marL="0">
              <a:spcAft>
                <a:spcPts val="400"/>
              </a:spcAft>
              <a:buNone/>
            </a:pPr>
            <a:r>
              <a:rPr lang="en-US" sz="1200" b="1" dirty="0">
                <a:solidFill>
                  <a:schemeClr val="accent1"/>
                </a:solidFill>
              </a:rPr>
              <a:t>Adult</a:t>
            </a:r>
            <a:endParaRPr lang="en-US" sz="1200" dirty="0"/>
          </a:p>
        </p:txBody>
      </p:sp>
      <p:sp>
        <p:nvSpPr>
          <p:cNvPr id="18" name="Text 15"/>
          <p:cNvSpPr txBox="1"/>
          <p:nvPr/>
        </p:nvSpPr>
        <p:spPr>
          <a:xfrm>
            <a:off x="7360920" y="2788920"/>
            <a:ext cx="1463040" cy="274320"/>
          </a:xfrm>
          <a:prstGeom prst="rect">
            <a:avLst/>
          </a:prstGeom>
          <a:noFill/>
          <a:ln/>
        </p:spPr>
        <p:txBody>
          <a:bodyPr wrap="square" lIns="0" tIns="0" rIns="0" bIns="0" rtlCol="0" anchor="ctr"/>
          <a:lstStyle/>
          <a:p>
            <a:pPr indent="0" marL="0">
              <a:buNone/>
            </a:pPr>
            <a:r>
              <a:rPr lang="en-US" sz="1000" i="1" dirty="0">
                <a:solidFill>
                  <a:schemeClr val="accent3"/>
                </a:solidFill>
              </a:rPr>
              <a:t>our model's answers</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Data: three datasets, very imbalanced</a:t>
            </a:r>
            <a:endParaRPr lang="en-US" sz="3000" dirty="0"/>
          </a:p>
        </p:txBody>
      </p:sp>
      <p:sp>
        <p:nvSpPr>
          <p:cNvPr id="3" name="stat training images"/>
          <p:cNvSpPr/>
          <p:nvPr/>
        </p:nvSpPr>
        <p:spPr>
          <a:xfrm>
            <a:off x="457200" y="1188720"/>
            <a:ext cx="2606040" cy="1417320"/>
          </a:xfrm>
          <a:prstGeom prst="roundRect">
            <a:avLst>
              <a:gd name="adj" fmla="val 5161"/>
            </a:avLst>
          </a:prstGeom>
          <a:solidFill>
            <a:srgbClr val="EEF2F7"/>
          </a:solidFill>
          <a:ln w="12700">
            <a:solidFill>
              <a:srgbClr val="EEF2F7"/>
            </a:solidFill>
            <a:prstDash val="solid"/>
          </a:ln>
        </p:spPr>
      </p:sp>
      <p:sp>
        <p:nvSpPr>
          <p:cNvPr id="4" name="Text 2"/>
          <p:cNvSpPr txBox="1"/>
          <p:nvPr/>
        </p:nvSpPr>
        <p:spPr>
          <a:xfrm>
            <a:off x="640080" y="1280160"/>
            <a:ext cx="224028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97,669</a:t>
            </a:r>
            <a:endParaRPr lang="en-US" sz="4000" dirty="0"/>
          </a:p>
        </p:txBody>
      </p:sp>
      <p:sp>
        <p:nvSpPr>
          <p:cNvPr id="5" name="Text 3"/>
          <p:cNvSpPr txBox="1"/>
          <p:nvPr/>
        </p:nvSpPr>
        <p:spPr>
          <a:xfrm>
            <a:off x="640080" y="2057400"/>
            <a:ext cx="2240280" cy="411480"/>
          </a:xfrm>
          <a:prstGeom prst="rect">
            <a:avLst/>
          </a:prstGeom>
          <a:noFill/>
          <a:ln/>
        </p:spPr>
        <p:txBody>
          <a:bodyPr wrap="square" lIns="0" tIns="0" rIns="0" bIns="0" rtlCol="0" anchor="ctr"/>
          <a:lstStyle/>
          <a:p>
            <a:pPr indent="0" marL="0">
              <a:buNone/>
            </a:pPr>
            <a:r>
              <a:rPr lang="en-US" sz="1300" dirty="0">
                <a:solidFill>
                  <a:schemeClr val="tx2"/>
                </a:solidFill>
              </a:rPr>
              <a:t>training images</a:t>
            </a:r>
            <a:endParaRPr lang="en-US" sz="1300" dirty="0"/>
          </a:p>
        </p:txBody>
      </p:sp>
      <p:sp>
        <p:nvSpPr>
          <p:cNvPr id="6" name="stat validation images"/>
          <p:cNvSpPr/>
          <p:nvPr/>
        </p:nvSpPr>
        <p:spPr>
          <a:xfrm>
            <a:off x="3246120" y="1188720"/>
            <a:ext cx="2606040" cy="1417320"/>
          </a:xfrm>
          <a:prstGeom prst="roundRect">
            <a:avLst>
              <a:gd name="adj" fmla="val 5161"/>
            </a:avLst>
          </a:prstGeom>
          <a:solidFill>
            <a:srgbClr val="EEF2F7"/>
          </a:solidFill>
          <a:ln w="12700">
            <a:solidFill>
              <a:srgbClr val="EEF2F7"/>
            </a:solidFill>
            <a:prstDash val="solid"/>
          </a:ln>
        </p:spPr>
      </p:sp>
      <p:sp>
        <p:nvSpPr>
          <p:cNvPr id="7" name="Text 5"/>
          <p:cNvSpPr txBox="1"/>
          <p:nvPr/>
        </p:nvSpPr>
        <p:spPr>
          <a:xfrm>
            <a:off x="3429000" y="1280160"/>
            <a:ext cx="224028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33,407</a:t>
            </a:r>
            <a:endParaRPr lang="en-US" sz="4000" dirty="0"/>
          </a:p>
        </p:txBody>
      </p:sp>
      <p:sp>
        <p:nvSpPr>
          <p:cNvPr id="8" name="Text 6"/>
          <p:cNvSpPr txBox="1"/>
          <p:nvPr/>
        </p:nvSpPr>
        <p:spPr>
          <a:xfrm>
            <a:off x="3429000" y="2057400"/>
            <a:ext cx="2240280" cy="411480"/>
          </a:xfrm>
          <a:prstGeom prst="rect">
            <a:avLst/>
          </a:prstGeom>
          <a:noFill/>
          <a:ln/>
        </p:spPr>
        <p:txBody>
          <a:bodyPr wrap="square" lIns="0" tIns="0" rIns="0" bIns="0" rtlCol="0" anchor="ctr"/>
          <a:lstStyle/>
          <a:p>
            <a:pPr indent="0" marL="0">
              <a:buNone/>
            </a:pPr>
            <a:r>
              <a:rPr lang="en-US" sz="1300" dirty="0">
                <a:solidFill>
                  <a:schemeClr val="tx2"/>
                </a:solidFill>
              </a:rPr>
              <a:t>validation images</a:t>
            </a:r>
            <a:endParaRPr lang="en-US" sz="1300" dirty="0"/>
          </a:p>
        </p:txBody>
      </p:sp>
      <p:sp>
        <p:nvSpPr>
          <p:cNvPr id="9" name="stat attributes under 5% positive"/>
          <p:cNvSpPr/>
          <p:nvPr/>
        </p:nvSpPr>
        <p:spPr>
          <a:xfrm>
            <a:off x="6035040" y="1188720"/>
            <a:ext cx="2606040" cy="1417320"/>
          </a:xfrm>
          <a:prstGeom prst="roundRect">
            <a:avLst>
              <a:gd name="adj" fmla="val 5161"/>
            </a:avLst>
          </a:prstGeom>
          <a:solidFill>
            <a:srgbClr val="0F1B2D"/>
          </a:solidFill>
          <a:ln w="12700">
            <a:solidFill>
              <a:srgbClr val="0F1B2D"/>
            </a:solidFill>
            <a:prstDash val="solid"/>
          </a:ln>
        </p:spPr>
      </p:sp>
      <p:sp>
        <p:nvSpPr>
          <p:cNvPr id="10" name="Text 8"/>
          <p:cNvSpPr txBox="1"/>
          <p:nvPr/>
        </p:nvSpPr>
        <p:spPr>
          <a:xfrm>
            <a:off x="6217920" y="1280160"/>
            <a:ext cx="224028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20 / 40</a:t>
            </a:r>
            <a:endParaRPr lang="en-US" sz="4000" dirty="0"/>
          </a:p>
        </p:txBody>
      </p:sp>
      <p:sp>
        <p:nvSpPr>
          <p:cNvPr id="11" name="Text 9"/>
          <p:cNvSpPr txBox="1"/>
          <p:nvPr/>
        </p:nvSpPr>
        <p:spPr>
          <a:xfrm>
            <a:off x="6217920" y="2057400"/>
            <a:ext cx="2240280" cy="411480"/>
          </a:xfrm>
          <a:prstGeom prst="rect">
            <a:avLst/>
          </a:prstGeom>
          <a:noFill/>
          <a:ln/>
        </p:spPr>
        <p:txBody>
          <a:bodyPr wrap="square" lIns="0" tIns="0" rIns="0" bIns="0" rtlCol="0" anchor="ctr"/>
          <a:lstStyle/>
          <a:p>
            <a:pPr indent="0" marL="0">
              <a:buNone/>
            </a:pPr>
            <a:r>
              <a:rPr lang="en-US" sz="1300" dirty="0">
                <a:solidFill>
                  <a:schemeClr val="bg1"/>
                </a:solidFill>
              </a:rPr>
              <a:t>attributes under 5% positive</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4754880" cy="914400"/>
        </p:xfrm>
        <a:graphic>
          <a:graphicData uri="http://schemas.openxmlformats.org/drawingml/2006/table">
            <a:tbl>
              <a:tblPr/>
              <a:tblGrid>
                <a:gridCol w="1828800"/>
                <a:gridCol w="1463040"/>
                <a:gridCol w="14630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F3A5F"/>
                    </a:solidFill>
                  </a:tcPr>
                </a:tc>
              </a:tr>
              <a:tr h="329184">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PA100k</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79,001</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9,986</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29184">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Market1501</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16,458</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29184">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PETA</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8,668</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0F1B2D"/>
                          </a:solidFill>
                          <a:latin typeface="Calibri" pitchFamily="34" charset="0"/>
                          <a:ea typeface="Calibri" pitchFamily="34" charset="-122"/>
                          <a:cs typeface="Calibri" pitchFamily="34" charset="-120"/>
                        </a:rPr>
                        <a:t>6,963</a:t>
                      </a:r>
                      <a:endParaRPr lang="en-US" sz="12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13" name="Text 10"/>
          <p:cNvSpPr txBox="1"/>
          <p:nvPr/>
        </p:nvSpPr>
        <p:spPr>
          <a:xfrm>
            <a:off x="5486400" y="2926080"/>
            <a:ext cx="3200400" cy="1188720"/>
          </a:xfrm>
          <a:prstGeom prst="rect">
            <a:avLst/>
          </a:prstGeom>
          <a:noFill/>
          <a:ln/>
        </p:spPr>
        <p:txBody>
          <a:bodyPr wrap="square" lIns="0" tIns="0" rIns="0" bIns="0" rtlCol="0" anchor="t"/>
          <a:lstStyle/>
          <a:p>
            <a:pPr indent="0" marL="0">
              <a:buNone/>
            </a:pPr>
            <a:r>
              <a:rPr lang="en-US" sz="1300" dirty="0">
                <a:solidFill>
                  <a:schemeClr val="tx2"/>
                </a:solidFill>
              </a:rPr>
              <a:t>Score = harmonic mean of mA and instance F1, computed per dataset then averaged. Prior baseline: 54.28</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Our pipeline</a:t>
            </a:r>
            <a:endParaRPr lang="en-US" sz="3000" dirty="0"/>
          </a:p>
        </p:txBody>
      </p:sp>
      <p:sp>
        <p:nvSpPr>
          <p:cNvPr id="3" name="step Crop 256 x 128"/>
          <p:cNvSpPr/>
          <p:nvPr/>
        </p:nvSpPr>
        <p:spPr>
          <a:xfrm>
            <a:off x="457200" y="1325880"/>
            <a:ext cx="1920240" cy="2103120"/>
          </a:xfrm>
          <a:prstGeom prst="roundRect">
            <a:avLst>
              <a:gd name="adj" fmla="val 3810"/>
            </a:avLst>
          </a:prstGeom>
          <a:solidFill>
            <a:srgbClr val="EEF2F7"/>
          </a:solidFill>
          <a:ln w="12700">
            <a:solidFill>
              <a:srgbClr val="EEF2F7"/>
            </a:solidFill>
            <a:prstDash val="solid"/>
          </a:ln>
        </p:spPr>
      </p:sp>
      <p:sp>
        <p:nvSpPr>
          <p:cNvPr id="4" name="num 1"/>
          <p:cNvSpPr/>
          <p:nvPr/>
        </p:nvSpPr>
        <p:spPr>
          <a:xfrm>
            <a:off x="640080" y="1508760"/>
            <a:ext cx="457200" cy="457200"/>
          </a:xfrm>
          <a:prstGeom prst="ellipse">
            <a:avLst/>
          </a:prstGeom>
          <a:solidFill>
            <a:srgbClr val="0E9F8E"/>
          </a:solidFill>
          <a:ln w="12700">
            <a:solidFill>
              <a:srgbClr val="0E9F8E"/>
            </a:solidFill>
            <a:prstDash val="solid"/>
          </a:ln>
        </p:spPr>
      </p:sp>
      <p:sp>
        <p:nvSpPr>
          <p:cNvPr id="5" name="Text 3"/>
          <p:cNvSpPr txBox="1"/>
          <p:nvPr/>
        </p:nvSpPr>
        <p:spPr>
          <a:xfrm>
            <a:off x="64008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40080" y="2103120"/>
            <a:ext cx="1600200" cy="411480"/>
          </a:xfrm>
          <a:prstGeom prst="rect">
            <a:avLst/>
          </a:prstGeom>
          <a:noFill/>
          <a:ln/>
        </p:spPr>
        <p:txBody>
          <a:bodyPr wrap="square" lIns="0" tIns="0" rIns="0" bIns="0" rtlCol="0" anchor="ctr"/>
          <a:lstStyle/>
          <a:p>
            <a:pPr indent="0" marL="0">
              <a:buNone/>
            </a:pPr>
            <a:r>
              <a:rPr lang="en-US" sz="1600" b="1" dirty="0">
                <a:solidFill>
                  <a:schemeClr val="tx1"/>
                </a:solidFill>
              </a:rPr>
              <a:t>Crop 256 x 128</a:t>
            </a:r>
            <a:endParaRPr lang="en-US" sz="1600" dirty="0"/>
          </a:p>
        </p:txBody>
      </p:sp>
      <p:sp>
        <p:nvSpPr>
          <p:cNvPr id="7" name="Text 5"/>
          <p:cNvSpPr txBox="1"/>
          <p:nvPr/>
        </p:nvSpPr>
        <p:spPr>
          <a:xfrm>
            <a:off x="640080" y="2560320"/>
            <a:ext cx="1600200" cy="777240"/>
          </a:xfrm>
          <a:prstGeom prst="rect">
            <a:avLst/>
          </a:prstGeom>
          <a:noFill/>
          <a:ln/>
        </p:spPr>
        <p:txBody>
          <a:bodyPr wrap="square" lIns="0" tIns="0" rIns="0" bIns="0" rtlCol="0" anchor="t"/>
          <a:lstStyle/>
          <a:p>
            <a:pPr indent="0" marL="0">
              <a:buNone/>
            </a:pPr>
            <a:r>
              <a:rPr lang="en-US" sz="1200" dirty="0">
                <a:solidFill>
                  <a:schemeClr val="tx2"/>
                </a:solidFill>
              </a:rPr>
              <a:t>flip, colour jitter, random erasing</a:t>
            </a:r>
            <a:endParaRPr lang="en-US" sz="1200" dirty="0"/>
          </a:p>
        </p:txBody>
      </p:sp>
      <p:sp>
        <p:nvSpPr>
          <p:cNvPr id="8" name="arrow 0"/>
          <p:cNvSpPr/>
          <p:nvPr/>
        </p:nvSpPr>
        <p:spPr>
          <a:xfrm rot="5400000">
            <a:off x="2404872" y="2286000"/>
            <a:ext cx="128016" cy="182880"/>
          </a:xfrm>
          <a:prstGeom prst="rtTriangle">
            <a:avLst/>
          </a:prstGeom>
          <a:solidFill>
            <a:srgbClr val="8FA3BF"/>
          </a:solidFill>
          <a:ln w="12700">
            <a:solidFill>
              <a:srgbClr val="8FA3BF"/>
            </a:solidFill>
            <a:prstDash val="solid"/>
          </a:ln>
        </p:spPr>
      </p:sp>
      <p:sp>
        <p:nvSpPr>
          <p:cNvPr id="9" name="step ResNet50"/>
          <p:cNvSpPr/>
          <p:nvPr/>
        </p:nvSpPr>
        <p:spPr>
          <a:xfrm>
            <a:off x="2560320" y="1325880"/>
            <a:ext cx="1920240" cy="2103120"/>
          </a:xfrm>
          <a:prstGeom prst="roundRect">
            <a:avLst>
              <a:gd name="adj" fmla="val 3810"/>
            </a:avLst>
          </a:prstGeom>
          <a:solidFill>
            <a:srgbClr val="0F1B2D"/>
          </a:solidFill>
          <a:ln w="12700">
            <a:solidFill>
              <a:srgbClr val="0F1B2D"/>
            </a:solidFill>
            <a:prstDash val="solid"/>
          </a:ln>
        </p:spPr>
      </p:sp>
      <p:sp>
        <p:nvSpPr>
          <p:cNvPr id="10" name="num 2"/>
          <p:cNvSpPr/>
          <p:nvPr/>
        </p:nvSpPr>
        <p:spPr>
          <a:xfrm>
            <a:off x="2743200" y="1508760"/>
            <a:ext cx="457200" cy="457200"/>
          </a:xfrm>
          <a:prstGeom prst="ellipse">
            <a:avLst/>
          </a:prstGeom>
          <a:solidFill>
            <a:srgbClr val="0E9F8E"/>
          </a:solidFill>
          <a:ln w="12700">
            <a:solidFill>
              <a:srgbClr val="0E9F8E"/>
            </a:solidFill>
            <a:prstDash val="solid"/>
          </a:ln>
        </p:spPr>
      </p:sp>
      <p:sp>
        <p:nvSpPr>
          <p:cNvPr id="11" name="Text 9"/>
          <p:cNvSpPr txBox="1"/>
          <p:nvPr/>
        </p:nvSpPr>
        <p:spPr>
          <a:xfrm>
            <a:off x="274320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2743200" y="2103120"/>
            <a:ext cx="1600200" cy="411480"/>
          </a:xfrm>
          <a:prstGeom prst="rect">
            <a:avLst/>
          </a:prstGeom>
          <a:noFill/>
          <a:ln/>
        </p:spPr>
        <p:txBody>
          <a:bodyPr wrap="square" lIns="0" tIns="0" rIns="0" bIns="0" rtlCol="0" anchor="ctr"/>
          <a:lstStyle/>
          <a:p>
            <a:pPr indent="0" marL="0">
              <a:buNone/>
            </a:pPr>
            <a:r>
              <a:rPr lang="en-US" sz="1600" b="1" dirty="0">
                <a:solidFill>
                  <a:schemeClr val="bg1"/>
                </a:solidFill>
              </a:rPr>
              <a:t>ResNet50</a:t>
            </a:r>
            <a:endParaRPr lang="en-US" sz="1600" dirty="0"/>
          </a:p>
        </p:txBody>
      </p:sp>
      <p:sp>
        <p:nvSpPr>
          <p:cNvPr id="13" name="Text 11"/>
          <p:cNvSpPr txBox="1"/>
          <p:nvPr/>
        </p:nvSpPr>
        <p:spPr>
          <a:xfrm>
            <a:off x="2743200" y="2560320"/>
            <a:ext cx="1600200" cy="777240"/>
          </a:xfrm>
          <a:prstGeom prst="rect">
            <a:avLst/>
          </a:prstGeom>
          <a:noFill/>
          <a:ln/>
        </p:spPr>
        <p:txBody>
          <a:bodyPr wrap="square" lIns="0" tIns="0" rIns="0" bIns="0" rtlCol="0" anchor="t"/>
          <a:lstStyle/>
          <a:p>
            <a:pPr indent="0" marL="0">
              <a:buNone/>
            </a:pPr>
            <a:r>
              <a:rPr lang="en-US" sz="1200" dirty="0">
                <a:solidFill>
                  <a:schemeClr val="bg2"/>
                </a:solidFill>
              </a:rPr>
              <a:t>ImageNet pretrained, new 40 output head</a:t>
            </a:r>
            <a:endParaRPr lang="en-US" sz="1200" dirty="0"/>
          </a:p>
        </p:txBody>
      </p:sp>
      <p:sp>
        <p:nvSpPr>
          <p:cNvPr id="14" name="arrow 1"/>
          <p:cNvSpPr/>
          <p:nvPr/>
        </p:nvSpPr>
        <p:spPr>
          <a:xfrm rot="5400000">
            <a:off x="4507992" y="2286000"/>
            <a:ext cx="128016" cy="182880"/>
          </a:xfrm>
          <a:prstGeom prst="rtTriangle">
            <a:avLst/>
          </a:prstGeom>
          <a:solidFill>
            <a:srgbClr val="8FA3BF"/>
          </a:solidFill>
          <a:ln w="12700">
            <a:solidFill>
              <a:srgbClr val="8FA3BF"/>
            </a:solidFill>
            <a:prstDash val="solid"/>
          </a:ln>
        </p:spPr>
      </p:sp>
      <p:sp>
        <p:nvSpPr>
          <p:cNvPr id="15" name="step Weighted BCE"/>
          <p:cNvSpPr/>
          <p:nvPr/>
        </p:nvSpPr>
        <p:spPr>
          <a:xfrm>
            <a:off x="4663440" y="1325880"/>
            <a:ext cx="1920240" cy="2103120"/>
          </a:xfrm>
          <a:prstGeom prst="roundRect">
            <a:avLst>
              <a:gd name="adj" fmla="val 3810"/>
            </a:avLst>
          </a:prstGeom>
          <a:solidFill>
            <a:srgbClr val="EEF2F7"/>
          </a:solidFill>
          <a:ln w="12700">
            <a:solidFill>
              <a:srgbClr val="EEF2F7"/>
            </a:solidFill>
            <a:prstDash val="solid"/>
          </a:ln>
        </p:spPr>
      </p:sp>
      <p:sp>
        <p:nvSpPr>
          <p:cNvPr id="16" name="num 3"/>
          <p:cNvSpPr/>
          <p:nvPr/>
        </p:nvSpPr>
        <p:spPr>
          <a:xfrm>
            <a:off x="4846320" y="1508760"/>
            <a:ext cx="457200" cy="457200"/>
          </a:xfrm>
          <a:prstGeom prst="ellipse">
            <a:avLst/>
          </a:prstGeom>
          <a:solidFill>
            <a:srgbClr val="0E9F8E"/>
          </a:solidFill>
          <a:ln w="12700">
            <a:solidFill>
              <a:srgbClr val="0E9F8E"/>
            </a:solidFill>
            <a:prstDash val="solid"/>
          </a:ln>
        </p:spPr>
      </p:sp>
      <p:sp>
        <p:nvSpPr>
          <p:cNvPr id="17" name="Text 15"/>
          <p:cNvSpPr txBox="1"/>
          <p:nvPr/>
        </p:nvSpPr>
        <p:spPr>
          <a:xfrm>
            <a:off x="48463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4846320" y="2103120"/>
            <a:ext cx="1600200" cy="411480"/>
          </a:xfrm>
          <a:prstGeom prst="rect">
            <a:avLst/>
          </a:prstGeom>
          <a:noFill/>
          <a:ln/>
        </p:spPr>
        <p:txBody>
          <a:bodyPr wrap="square" lIns="0" tIns="0" rIns="0" bIns="0" rtlCol="0" anchor="ctr"/>
          <a:lstStyle/>
          <a:p>
            <a:pPr indent="0" marL="0">
              <a:buNone/>
            </a:pPr>
            <a:r>
              <a:rPr lang="en-US" sz="1600" b="1" dirty="0">
                <a:solidFill>
                  <a:schemeClr val="tx1"/>
                </a:solidFill>
              </a:rPr>
              <a:t>Weighted BCE</a:t>
            </a:r>
            <a:endParaRPr lang="en-US" sz="1600" dirty="0"/>
          </a:p>
        </p:txBody>
      </p:sp>
      <p:sp>
        <p:nvSpPr>
          <p:cNvPr id="19" name="Text 17"/>
          <p:cNvSpPr txBox="1"/>
          <p:nvPr/>
        </p:nvSpPr>
        <p:spPr>
          <a:xfrm>
            <a:off x="4846320" y="2560320"/>
            <a:ext cx="1600200" cy="777240"/>
          </a:xfrm>
          <a:prstGeom prst="rect">
            <a:avLst/>
          </a:prstGeom>
          <a:noFill/>
          <a:ln/>
        </p:spPr>
        <p:txBody>
          <a:bodyPr wrap="square" lIns="0" tIns="0" rIns="0" bIns="0" rtlCol="0" anchor="t"/>
          <a:lstStyle/>
          <a:p>
            <a:pPr indent="0" marL="0">
              <a:buNone/>
            </a:pPr>
            <a:r>
              <a:rPr lang="en-US" sz="1200" dirty="0">
                <a:solidFill>
                  <a:schemeClr val="tx2"/>
                </a:solidFill>
              </a:rPr>
              <a:t>rare attributes weighted up, missing labels masked</a:t>
            </a:r>
            <a:endParaRPr lang="en-US" sz="1200" dirty="0"/>
          </a:p>
        </p:txBody>
      </p:sp>
      <p:sp>
        <p:nvSpPr>
          <p:cNvPr id="20" name="arrow 2"/>
          <p:cNvSpPr/>
          <p:nvPr/>
        </p:nvSpPr>
        <p:spPr>
          <a:xfrm rot="5400000">
            <a:off x="6611112" y="2286000"/>
            <a:ext cx="128016" cy="182880"/>
          </a:xfrm>
          <a:prstGeom prst="rtTriangle">
            <a:avLst/>
          </a:prstGeom>
          <a:solidFill>
            <a:srgbClr val="8FA3BF"/>
          </a:solidFill>
          <a:ln w="12700">
            <a:solidFill>
              <a:srgbClr val="8FA3BF"/>
            </a:solidFill>
            <a:prstDash val="solid"/>
          </a:ln>
        </p:spPr>
      </p:sp>
      <p:sp>
        <p:nvSpPr>
          <p:cNvPr id="21" name="step Tuned thresholds"/>
          <p:cNvSpPr/>
          <p:nvPr/>
        </p:nvSpPr>
        <p:spPr>
          <a:xfrm>
            <a:off x="6766560" y="1325880"/>
            <a:ext cx="1920240" cy="2103120"/>
          </a:xfrm>
          <a:prstGeom prst="roundRect">
            <a:avLst>
              <a:gd name="adj" fmla="val 3810"/>
            </a:avLst>
          </a:prstGeom>
          <a:solidFill>
            <a:srgbClr val="EEF2F7"/>
          </a:solidFill>
          <a:ln w="12700">
            <a:solidFill>
              <a:srgbClr val="EEF2F7"/>
            </a:solidFill>
            <a:prstDash val="solid"/>
          </a:ln>
        </p:spPr>
      </p:sp>
      <p:sp>
        <p:nvSpPr>
          <p:cNvPr id="22" name="num 4"/>
          <p:cNvSpPr/>
          <p:nvPr/>
        </p:nvSpPr>
        <p:spPr>
          <a:xfrm>
            <a:off x="6949440" y="1508760"/>
            <a:ext cx="457200" cy="457200"/>
          </a:xfrm>
          <a:prstGeom prst="ellipse">
            <a:avLst/>
          </a:prstGeom>
          <a:solidFill>
            <a:srgbClr val="0E9F8E"/>
          </a:solidFill>
          <a:ln w="12700">
            <a:solidFill>
              <a:srgbClr val="0E9F8E"/>
            </a:solidFill>
            <a:prstDash val="solid"/>
          </a:ln>
        </p:spPr>
      </p:sp>
      <p:sp>
        <p:nvSpPr>
          <p:cNvPr id="23" name="Text 21"/>
          <p:cNvSpPr txBox="1"/>
          <p:nvPr/>
        </p:nvSpPr>
        <p:spPr>
          <a:xfrm>
            <a:off x="69494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6949440" y="2103120"/>
            <a:ext cx="1600200" cy="411480"/>
          </a:xfrm>
          <a:prstGeom prst="rect">
            <a:avLst/>
          </a:prstGeom>
          <a:noFill/>
          <a:ln/>
        </p:spPr>
        <p:txBody>
          <a:bodyPr wrap="square" lIns="0" tIns="0" rIns="0" bIns="0" rtlCol="0" anchor="ctr"/>
          <a:lstStyle/>
          <a:p>
            <a:pPr indent="0" marL="0">
              <a:buNone/>
            </a:pPr>
            <a:r>
              <a:rPr lang="en-US" sz="1600" b="1" dirty="0">
                <a:solidFill>
                  <a:schemeClr val="tx1"/>
                </a:solidFill>
              </a:rPr>
              <a:t>Tuned thresholds</a:t>
            </a:r>
            <a:endParaRPr lang="en-US" sz="1600" dirty="0"/>
          </a:p>
        </p:txBody>
      </p:sp>
      <p:sp>
        <p:nvSpPr>
          <p:cNvPr id="25" name="Text 23"/>
          <p:cNvSpPr txBox="1"/>
          <p:nvPr/>
        </p:nvSpPr>
        <p:spPr>
          <a:xfrm>
            <a:off x="6949440" y="2560320"/>
            <a:ext cx="1600200" cy="777240"/>
          </a:xfrm>
          <a:prstGeom prst="rect">
            <a:avLst/>
          </a:prstGeom>
          <a:noFill/>
          <a:ln/>
        </p:spPr>
        <p:txBody>
          <a:bodyPr wrap="square" lIns="0" tIns="0" rIns="0" bIns="0" rtlCol="0" anchor="t"/>
          <a:lstStyle/>
          <a:p>
            <a:pPr indent="0" marL="0">
              <a:buNone/>
            </a:pPr>
            <a:r>
              <a:rPr lang="en-US" sz="1200" dirty="0">
                <a:solidFill>
                  <a:schemeClr val="tx2"/>
                </a:solidFill>
              </a:rPr>
              <a:t>one threshold per attribute + flip TTA</a:t>
            </a:r>
            <a:endParaRPr lang="en-US" sz="1200" dirty="0"/>
          </a:p>
        </p:txBody>
      </p:sp>
      <p:sp>
        <p:nvSpPr>
          <p:cNvPr id="26" name="Text 24"/>
          <p:cNvSpPr txBox="1"/>
          <p:nvPr/>
        </p:nvSpPr>
        <p:spPr>
          <a:xfrm>
            <a:off x="457200" y="3794760"/>
            <a:ext cx="8229600" cy="365760"/>
          </a:xfrm>
          <a:prstGeom prst="rect">
            <a:avLst/>
          </a:prstGeom>
          <a:noFill/>
          <a:ln/>
        </p:spPr>
        <p:txBody>
          <a:bodyPr wrap="square" lIns="0" tIns="0" rIns="0" bIns="0" rtlCol="0" anchor="ctr"/>
          <a:lstStyle/>
          <a:p>
            <a:pPr indent="0" marL="0">
              <a:buNone/>
            </a:pPr>
            <a:r>
              <a:rPr lang="en-US" sz="1300" b="1" dirty="0">
                <a:solidFill>
                  <a:schemeClr val="accent5"/>
                </a:solidFill>
              </a:rPr>
              <a:t>AdamW (lr 3e-4)  |  OneCycle  |  batch 64  |  mixed precision  |  EMA weights  |  3 epochs on Colab T4</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Training: 21 minutes on a free GPU</a:t>
            </a:r>
            <a:endParaRPr lang="en-US" sz="3000" dirty="0"/>
          </a:p>
        </p:txBody>
      </p:sp>
      <p:graphicFrame>
        <p:nvGraphicFramePr>
          <p:cNvPr id="3" name="Chart 0" descr=""/>
          <p:cNvGraphicFramePr/>
          <p:nvPr/>
        </p:nvGraphicFramePr>
        <p:xfrm>
          <a:off x="36576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fact per epoch"/>
          <p:cNvSpPr/>
          <p:nvPr/>
        </p:nvSpPr>
        <p:spPr>
          <a:xfrm>
            <a:off x="5852160" y="1188720"/>
            <a:ext cx="2834640" cy="914400"/>
          </a:xfrm>
          <a:prstGeom prst="roundRect">
            <a:avLst>
              <a:gd name="adj" fmla="val 8000"/>
            </a:avLst>
          </a:prstGeom>
          <a:solidFill>
            <a:srgbClr val="EEF2F7"/>
          </a:solidFill>
          <a:ln w="12700">
            <a:solidFill>
              <a:srgbClr val="EEF2F7"/>
            </a:solidFill>
            <a:prstDash val="solid"/>
          </a:ln>
        </p:spPr>
      </p:sp>
      <p:sp>
        <p:nvSpPr>
          <p:cNvPr id="5" name="Text 2"/>
          <p:cNvSpPr txBox="1"/>
          <p:nvPr/>
        </p:nvSpPr>
        <p:spPr>
          <a:xfrm>
            <a:off x="6035040" y="1234440"/>
            <a:ext cx="25603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~7 min</a:t>
            </a:r>
            <a:endParaRPr lang="en-US" sz="2400" dirty="0"/>
          </a:p>
        </p:txBody>
      </p:sp>
      <p:sp>
        <p:nvSpPr>
          <p:cNvPr id="6" name="Text 3"/>
          <p:cNvSpPr txBox="1"/>
          <p:nvPr/>
        </p:nvSpPr>
        <p:spPr>
          <a:xfrm>
            <a:off x="6035040" y="1719072"/>
            <a:ext cx="2560320" cy="274320"/>
          </a:xfrm>
          <a:prstGeom prst="rect">
            <a:avLst/>
          </a:prstGeom>
          <a:noFill/>
          <a:ln/>
        </p:spPr>
        <p:txBody>
          <a:bodyPr wrap="square" lIns="0" tIns="0" rIns="0" bIns="0" rtlCol="0" anchor="ctr"/>
          <a:lstStyle/>
          <a:p>
            <a:pPr indent="0" marL="0">
              <a:buNone/>
            </a:pPr>
            <a:r>
              <a:rPr lang="en-US" sz="1200" dirty="0">
                <a:solidFill>
                  <a:schemeClr val="tx2"/>
                </a:solidFill>
              </a:rPr>
              <a:t>per epoch</a:t>
            </a:r>
            <a:endParaRPr lang="en-US" sz="1200" dirty="0"/>
          </a:p>
        </p:txBody>
      </p:sp>
      <p:sp>
        <p:nvSpPr>
          <p:cNvPr id="7" name="fact training loss"/>
          <p:cNvSpPr/>
          <p:nvPr/>
        </p:nvSpPr>
        <p:spPr>
          <a:xfrm>
            <a:off x="5852160" y="2286000"/>
            <a:ext cx="2834640" cy="914400"/>
          </a:xfrm>
          <a:prstGeom prst="roundRect">
            <a:avLst>
              <a:gd name="adj" fmla="val 8000"/>
            </a:avLst>
          </a:prstGeom>
          <a:solidFill>
            <a:srgbClr val="EEF2F7"/>
          </a:solidFill>
          <a:ln w="12700">
            <a:solidFill>
              <a:srgbClr val="EEF2F7"/>
            </a:solidFill>
            <a:prstDash val="solid"/>
          </a:ln>
        </p:spPr>
      </p:sp>
      <p:sp>
        <p:nvSpPr>
          <p:cNvPr id="8" name="Text 5"/>
          <p:cNvSpPr txBox="1"/>
          <p:nvPr/>
        </p:nvSpPr>
        <p:spPr>
          <a:xfrm>
            <a:off x="6035040" y="2331720"/>
            <a:ext cx="25603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0.30 to 0.16</a:t>
            </a:r>
            <a:endParaRPr lang="en-US" sz="2400" dirty="0"/>
          </a:p>
        </p:txBody>
      </p:sp>
      <p:sp>
        <p:nvSpPr>
          <p:cNvPr id="9" name="Text 6"/>
          <p:cNvSpPr txBox="1"/>
          <p:nvPr/>
        </p:nvSpPr>
        <p:spPr>
          <a:xfrm>
            <a:off x="6035040" y="2816352"/>
            <a:ext cx="2560320" cy="274320"/>
          </a:xfrm>
          <a:prstGeom prst="rect">
            <a:avLst/>
          </a:prstGeom>
          <a:noFill/>
          <a:ln/>
        </p:spPr>
        <p:txBody>
          <a:bodyPr wrap="square" lIns="0" tIns="0" rIns="0" bIns="0" rtlCol="0" anchor="ctr"/>
          <a:lstStyle/>
          <a:p>
            <a:pPr indent="0" marL="0">
              <a:buNone/>
            </a:pPr>
            <a:r>
              <a:rPr lang="en-US" sz="1200" dirty="0">
                <a:solidFill>
                  <a:schemeClr val="tx2"/>
                </a:solidFill>
              </a:rPr>
              <a:t>training loss</a:t>
            </a:r>
            <a:endParaRPr lang="en-US" sz="1200" dirty="0"/>
          </a:p>
        </p:txBody>
      </p:sp>
      <p:sp>
        <p:nvSpPr>
          <p:cNvPr id="10" name="fact parameters"/>
          <p:cNvSpPr/>
          <p:nvPr/>
        </p:nvSpPr>
        <p:spPr>
          <a:xfrm>
            <a:off x="5852160" y="3383280"/>
            <a:ext cx="2834640" cy="914400"/>
          </a:xfrm>
          <a:prstGeom prst="roundRect">
            <a:avLst>
              <a:gd name="adj" fmla="val 8000"/>
            </a:avLst>
          </a:prstGeom>
          <a:solidFill>
            <a:srgbClr val="EEF2F7"/>
          </a:solidFill>
          <a:ln w="12700">
            <a:solidFill>
              <a:srgbClr val="EEF2F7"/>
            </a:solidFill>
            <a:prstDash val="solid"/>
          </a:ln>
        </p:spPr>
      </p:sp>
      <p:sp>
        <p:nvSpPr>
          <p:cNvPr id="11" name="Text 8"/>
          <p:cNvSpPr txBox="1"/>
          <p:nvPr/>
        </p:nvSpPr>
        <p:spPr>
          <a:xfrm>
            <a:off x="6035040" y="3429000"/>
            <a:ext cx="25603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25.6M</a:t>
            </a:r>
            <a:endParaRPr lang="en-US" sz="2400" dirty="0"/>
          </a:p>
        </p:txBody>
      </p:sp>
      <p:sp>
        <p:nvSpPr>
          <p:cNvPr id="12" name="Text 9"/>
          <p:cNvSpPr txBox="1"/>
          <p:nvPr/>
        </p:nvSpPr>
        <p:spPr>
          <a:xfrm>
            <a:off x="6035040" y="3913632"/>
            <a:ext cx="2560320" cy="274320"/>
          </a:xfrm>
          <a:prstGeom prst="rect">
            <a:avLst/>
          </a:prstGeom>
          <a:noFill/>
          <a:ln/>
        </p:spPr>
        <p:txBody>
          <a:bodyPr wrap="square" lIns="0" tIns="0" rIns="0" bIns="0" rtlCol="0" anchor="ctr"/>
          <a:lstStyle/>
          <a:p>
            <a:pPr indent="0" marL="0">
              <a:buNone/>
            </a:pPr>
            <a:r>
              <a:rPr lang="en-US" sz="1200" dirty="0">
                <a:solidFill>
                  <a:schemeClr val="tx2"/>
                </a:solidFill>
              </a:rPr>
              <a:t>parameters</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Results: 86.58 on validation</a:t>
            </a:r>
            <a:endParaRPr lang="en-US" sz="3000" dirty="0"/>
          </a:p>
        </p:txBody>
      </p:sp>
      <p:graphicFrame>
        <p:nvGraphicFramePr>
          <p:cNvPr id="3" name="Chart 0" descr=""/>
          <p:cNvGraphicFramePr/>
          <p:nvPr/>
        </p:nvGraphicFramePr>
        <p:xfrm>
          <a:off x="365760" y="105156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headline score"/>
          <p:cNvSpPr/>
          <p:nvPr/>
        </p:nvSpPr>
        <p:spPr>
          <a:xfrm>
            <a:off x="6217920" y="1188720"/>
            <a:ext cx="2468880" cy="1417320"/>
          </a:xfrm>
          <a:prstGeom prst="roundRect">
            <a:avLst>
              <a:gd name="adj" fmla="val 5161"/>
            </a:avLst>
          </a:prstGeom>
          <a:solidFill>
            <a:srgbClr val="0F1B2D"/>
          </a:solidFill>
          <a:ln w="12700">
            <a:solidFill>
              <a:srgbClr val="0F1B2D"/>
            </a:solidFill>
            <a:prstDash val="solid"/>
          </a:ln>
        </p:spPr>
      </p:sp>
      <p:sp>
        <p:nvSpPr>
          <p:cNvPr id="5" name="Text 2"/>
          <p:cNvSpPr txBox="1"/>
          <p:nvPr/>
        </p:nvSpPr>
        <p:spPr>
          <a:xfrm>
            <a:off x="6400800" y="1234440"/>
            <a:ext cx="210312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86.58</a:t>
            </a:r>
            <a:endParaRPr lang="en-US" sz="4400" dirty="0"/>
          </a:p>
        </p:txBody>
      </p:sp>
      <p:sp>
        <p:nvSpPr>
          <p:cNvPr id="6" name="Text 3"/>
          <p:cNvSpPr txBox="1"/>
          <p:nvPr/>
        </p:nvSpPr>
        <p:spPr>
          <a:xfrm>
            <a:off x="6400800" y="2057400"/>
            <a:ext cx="2103120" cy="365760"/>
          </a:xfrm>
          <a:prstGeom prst="rect">
            <a:avLst/>
          </a:prstGeom>
          <a:noFill/>
          <a:ln/>
        </p:spPr>
        <p:txBody>
          <a:bodyPr wrap="square" lIns="0" tIns="0" rIns="0" bIns="0" rtlCol="0" anchor="ctr"/>
          <a:lstStyle/>
          <a:p>
            <a:pPr indent="0" marL="0">
              <a:buNone/>
            </a:pPr>
            <a:r>
              <a:rPr lang="en-US" sz="1300" dirty="0">
                <a:solidFill>
                  <a:schemeClr val="bg1"/>
                </a:solidFill>
              </a:rPr>
              <a:t>mean score, tuned</a:t>
            </a:r>
            <a:endParaRPr lang="en-US" sz="1300" dirty="0"/>
          </a:p>
        </p:txBody>
      </p:sp>
      <p:sp>
        <p:nvSpPr>
          <p:cNvPr id="7" name="Text 4"/>
          <p:cNvSpPr txBox="1"/>
          <p:nvPr/>
        </p:nvSpPr>
        <p:spPr>
          <a:xfrm>
            <a:off x="6217920" y="2834640"/>
            <a:ext cx="2468880" cy="1463040"/>
          </a:xfrm>
          <a:prstGeom prst="rect">
            <a:avLst/>
          </a:prstGeom>
          <a:noFill/>
          <a:ln/>
        </p:spPr>
        <p:txBody>
          <a:bodyPr wrap="square" lIns="0" tIns="0" rIns="0" bIns="0" rtlCol="0" anchor="t"/>
          <a:lstStyle/>
          <a:p>
            <a:pPr indent="0" marL="0">
              <a:spcAft>
                <a:spcPts val="600"/>
              </a:spcAft>
              <a:buNone/>
            </a:pPr>
            <a:r>
              <a:rPr lang="en-US" sz="1300" b="1" dirty="0">
                <a:solidFill>
                  <a:schemeClr val="accent1"/>
                </a:solidFill>
              </a:rPr>
              <a:t>+32 points </a:t>
            </a:r>
            <a:pPr indent="0" marL="0">
              <a:spcAft>
                <a:spcPts val="600"/>
              </a:spcAft>
              <a:buNone/>
            </a:pPr>
            <a:r>
              <a:rPr lang="en-US" sz="1300" dirty="0">
                <a:solidFill>
                  <a:schemeClr val="tx2"/>
                </a:solidFill>
              </a:rPr>
              <a:t>over the prior baseline</a:t>
            </a:r>
            <a:endParaRPr lang="en-US" sz="1300" dirty="0"/>
          </a:p>
          <a:p>
            <a:pPr indent="0" marL="0">
              <a:spcAft>
                <a:spcPts val="600"/>
              </a:spcAft>
              <a:buNone/>
            </a:pPr>
            <a:r>
              <a:rPr lang="en-US" sz="1300" b="1" dirty="0">
                <a:solidFill>
                  <a:schemeClr val="accent1"/>
                </a:solidFill>
              </a:rPr>
              <a:t>+1.0 point </a:t>
            </a:r>
            <a:pPr indent="0" marL="0">
              <a:spcAft>
                <a:spcPts val="600"/>
              </a:spcAft>
              <a:buNone/>
            </a:pPr>
            <a:r>
              <a:rPr lang="en-US" sz="1300" dirty="0">
                <a:solidFill>
                  <a:schemeClr val="tx2"/>
                </a:solidFill>
              </a:rPr>
              <a:t>from threshold tuning, still +0.8 to +0.9 on held-out halves</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Where the model struggles</a:t>
            </a:r>
            <a:endParaRPr lang="en-US" sz="3000" dirty="0"/>
          </a:p>
        </p:txBody>
      </p:sp>
      <p:graphicFrame>
        <p:nvGraphicFramePr>
          <p:cNvPr id="3" name="Chart 0" descr=""/>
          <p:cNvGraphicFramePr/>
          <p:nvPr/>
        </p:nvGraphicFramePr>
        <p:xfrm>
          <a:off x="365760" y="105156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reason Rare labels"/>
          <p:cNvSpPr/>
          <p:nvPr/>
        </p:nvSpPr>
        <p:spPr>
          <a:xfrm>
            <a:off x="6035040" y="1143000"/>
            <a:ext cx="2651760" cy="1005840"/>
          </a:xfrm>
          <a:prstGeom prst="roundRect">
            <a:avLst>
              <a:gd name="adj" fmla="val 7273"/>
            </a:avLst>
          </a:prstGeom>
          <a:solidFill>
            <a:srgbClr val="EEF2F7"/>
          </a:solidFill>
          <a:ln w="12700">
            <a:solidFill>
              <a:srgbClr val="EEF2F7"/>
            </a:solidFill>
            <a:prstDash val="solid"/>
          </a:ln>
        </p:spPr>
      </p:sp>
      <p:sp>
        <p:nvSpPr>
          <p:cNvPr id="5" name="Text 2"/>
          <p:cNvSpPr txBox="1"/>
          <p:nvPr/>
        </p:nvSpPr>
        <p:spPr>
          <a:xfrm>
            <a:off x="6172200" y="1207008"/>
            <a:ext cx="2377440" cy="320040"/>
          </a:xfrm>
          <a:prstGeom prst="rect">
            <a:avLst/>
          </a:prstGeom>
          <a:noFill/>
          <a:ln/>
        </p:spPr>
        <p:txBody>
          <a:bodyPr wrap="square" lIns="0" tIns="0" rIns="0" bIns="0" rtlCol="0" anchor="ctr"/>
          <a:lstStyle/>
          <a:p>
            <a:pPr indent="0" marL="0">
              <a:buNone/>
            </a:pPr>
            <a:r>
              <a:rPr lang="en-US" sz="1400" b="1" dirty="0">
                <a:solidFill>
                  <a:schemeClr val="accent4"/>
                </a:solidFill>
              </a:rPr>
              <a:t>Rare labels</a:t>
            </a:r>
            <a:endParaRPr lang="en-US" sz="1400" dirty="0"/>
          </a:p>
        </p:txBody>
      </p:sp>
      <p:sp>
        <p:nvSpPr>
          <p:cNvPr id="6" name="Text 3"/>
          <p:cNvSpPr txBox="1"/>
          <p:nvPr/>
        </p:nvSpPr>
        <p:spPr>
          <a:xfrm>
            <a:off x="6172200" y="1527048"/>
            <a:ext cx="2377440" cy="594360"/>
          </a:xfrm>
          <a:prstGeom prst="rect">
            <a:avLst/>
          </a:prstGeom>
          <a:noFill/>
          <a:ln/>
        </p:spPr>
        <p:txBody>
          <a:bodyPr wrap="square" lIns="0" tIns="0" rIns="0" bIns="0" rtlCol="0" anchor="t"/>
          <a:lstStyle/>
          <a:p>
            <a:pPr indent="0" marL="0">
              <a:buNone/>
            </a:pPr>
            <a:r>
              <a:rPr lang="en-US" sz="1100" dirty="0">
                <a:solidFill>
                  <a:schemeClr val="tx2"/>
                </a:solidFill>
              </a:rPr>
              <a:t>Sunglasses: only 29% of positives found. The model learns to say no.</a:t>
            </a:r>
            <a:endParaRPr lang="en-US" sz="1100" dirty="0"/>
          </a:p>
        </p:txBody>
      </p:sp>
      <p:sp>
        <p:nvSpPr>
          <p:cNvPr id="7" name="reason Small details"/>
          <p:cNvSpPr/>
          <p:nvPr/>
        </p:nvSpPr>
        <p:spPr>
          <a:xfrm>
            <a:off x="6035040" y="2286000"/>
            <a:ext cx="2651760" cy="1005840"/>
          </a:xfrm>
          <a:prstGeom prst="roundRect">
            <a:avLst>
              <a:gd name="adj" fmla="val 7273"/>
            </a:avLst>
          </a:prstGeom>
          <a:solidFill>
            <a:srgbClr val="EEF2F7"/>
          </a:solidFill>
          <a:ln w="12700">
            <a:solidFill>
              <a:srgbClr val="EEF2F7"/>
            </a:solidFill>
            <a:prstDash val="solid"/>
          </a:ln>
        </p:spPr>
      </p:sp>
      <p:sp>
        <p:nvSpPr>
          <p:cNvPr id="8" name="Text 5"/>
          <p:cNvSpPr txBox="1"/>
          <p:nvPr/>
        </p:nvSpPr>
        <p:spPr>
          <a:xfrm>
            <a:off x="6172200" y="2350008"/>
            <a:ext cx="2377440" cy="320040"/>
          </a:xfrm>
          <a:prstGeom prst="rect">
            <a:avLst/>
          </a:prstGeom>
          <a:noFill/>
          <a:ln/>
        </p:spPr>
        <p:txBody>
          <a:bodyPr wrap="square" lIns="0" tIns="0" rIns="0" bIns="0" rtlCol="0" anchor="ctr"/>
          <a:lstStyle/>
          <a:p>
            <a:pPr indent="0" marL="0">
              <a:buNone/>
            </a:pPr>
            <a:r>
              <a:rPr lang="en-US" sz="1400" b="1" dirty="0">
                <a:solidFill>
                  <a:schemeClr val="accent4"/>
                </a:solidFill>
              </a:rPr>
              <a:t>Small details</a:t>
            </a:r>
            <a:endParaRPr lang="en-US" sz="1400" dirty="0"/>
          </a:p>
        </p:txBody>
      </p:sp>
      <p:sp>
        <p:nvSpPr>
          <p:cNvPr id="9" name="Text 6"/>
          <p:cNvSpPr txBox="1"/>
          <p:nvPr/>
        </p:nvSpPr>
        <p:spPr>
          <a:xfrm>
            <a:off x="6172200" y="2670048"/>
            <a:ext cx="2377440" cy="594360"/>
          </a:xfrm>
          <a:prstGeom prst="rect">
            <a:avLst/>
          </a:prstGeom>
          <a:noFill/>
          <a:ln/>
        </p:spPr>
        <p:txBody>
          <a:bodyPr wrap="square" lIns="0" tIns="0" rIns="0" bIns="0" rtlCol="0" anchor="t"/>
          <a:lstStyle/>
          <a:p>
            <a:pPr indent="0" marL="0">
              <a:buNone/>
            </a:pPr>
            <a:r>
              <a:rPr lang="en-US" sz="1100" dirty="0">
                <a:solidFill>
                  <a:schemeClr val="tx2"/>
                </a:solidFill>
              </a:rPr>
              <a:t>Bags and glasses are a few pixels in a 256 x 128 crop. Accessories mA 79.2.</a:t>
            </a:r>
            <a:endParaRPr lang="en-US" sz="1100" dirty="0"/>
          </a:p>
        </p:txBody>
      </p:sp>
      <p:sp>
        <p:nvSpPr>
          <p:cNvPr id="10" name="reason Colours"/>
          <p:cNvSpPr/>
          <p:nvPr/>
        </p:nvSpPr>
        <p:spPr>
          <a:xfrm>
            <a:off x="6035040" y="3429000"/>
            <a:ext cx="2651760" cy="1005840"/>
          </a:xfrm>
          <a:prstGeom prst="roundRect">
            <a:avLst>
              <a:gd name="adj" fmla="val 7273"/>
            </a:avLst>
          </a:prstGeom>
          <a:solidFill>
            <a:srgbClr val="EEF2F7"/>
          </a:solidFill>
          <a:ln w="12700">
            <a:solidFill>
              <a:srgbClr val="EEF2F7"/>
            </a:solidFill>
            <a:prstDash val="solid"/>
          </a:ln>
        </p:spPr>
      </p:sp>
      <p:sp>
        <p:nvSpPr>
          <p:cNvPr id="11" name="Text 8"/>
          <p:cNvSpPr txBox="1"/>
          <p:nvPr/>
        </p:nvSpPr>
        <p:spPr>
          <a:xfrm>
            <a:off x="6172200" y="3493008"/>
            <a:ext cx="2377440" cy="320040"/>
          </a:xfrm>
          <a:prstGeom prst="rect">
            <a:avLst/>
          </a:prstGeom>
          <a:noFill/>
          <a:ln/>
        </p:spPr>
        <p:txBody>
          <a:bodyPr wrap="square" lIns="0" tIns="0" rIns="0" bIns="0" rtlCol="0" anchor="ctr"/>
          <a:lstStyle/>
          <a:p>
            <a:pPr indent="0" marL="0">
              <a:buNone/>
            </a:pPr>
            <a:r>
              <a:rPr lang="en-US" sz="1400" b="1" dirty="0">
                <a:solidFill>
                  <a:schemeClr val="accent4"/>
                </a:solidFill>
              </a:rPr>
              <a:t>Colours</a:t>
            </a:r>
            <a:endParaRPr lang="en-US" sz="1400" dirty="0"/>
          </a:p>
        </p:txBody>
      </p:sp>
      <p:sp>
        <p:nvSpPr>
          <p:cNvPr id="12" name="Text 9"/>
          <p:cNvSpPr txBox="1"/>
          <p:nvPr/>
        </p:nvSpPr>
        <p:spPr>
          <a:xfrm>
            <a:off x="6172200" y="3813048"/>
            <a:ext cx="2377440" cy="594360"/>
          </a:xfrm>
          <a:prstGeom prst="rect">
            <a:avLst/>
          </a:prstGeom>
          <a:noFill/>
          <a:ln/>
        </p:spPr>
        <p:txBody>
          <a:bodyPr wrap="square" lIns="0" tIns="0" rIns="0" bIns="0" rtlCol="0" anchor="t"/>
          <a:lstStyle/>
          <a:p>
            <a:pPr indent="0" marL="0">
              <a:buNone/>
            </a:pPr>
            <a:r>
              <a:rPr lang="en-US" sz="1100" dirty="0">
                <a:solidFill>
                  <a:schemeClr val="tx2"/>
                </a:solidFill>
              </a:rPr>
              <a:t>Lower body colour F1 is only 51.1; lighting changes colours.</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Validation vs hidden test</a:t>
            </a:r>
            <a:endParaRPr lang="en-US" sz="3000" dirty="0"/>
          </a:p>
        </p:txBody>
      </p:sp>
      <p:sp>
        <p:nvSpPr>
          <p:cNvPr id="3" name="score Validation (seen datasets)"/>
          <p:cNvSpPr/>
          <p:nvPr/>
        </p:nvSpPr>
        <p:spPr>
          <a:xfrm>
            <a:off x="731520" y="1188720"/>
            <a:ext cx="3657600" cy="2651760"/>
          </a:xfrm>
          <a:prstGeom prst="roundRect">
            <a:avLst>
              <a:gd name="adj" fmla="val 2759"/>
            </a:avLst>
          </a:prstGeom>
          <a:solidFill>
            <a:srgbClr val="EEF2F7"/>
          </a:solidFill>
          <a:ln w="12700">
            <a:solidFill>
              <a:srgbClr val="EEF2F7"/>
            </a:solidFill>
            <a:prstDash val="solid"/>
          </a:ln>
        </p:spPr>
      </p:sp>
      <p:sp>
        <p:nvSpPr>
          <p:cNvPr id="4" name="Text 2"/>
          <p:cNvSpPr txBox="1"/>
          <p:nvPr/>
        </p:nvSpPr>
        <p:spPr>
          <a:xfrm>
            <a:off x="1005840" y="1325880"/>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Validation (seen datasets)</a:t>
            </a:r>
            <a:endParaRPr lang="en-US" sz="1800" dirty="0"/>
          </a:p>
        </p:txBody>
      </p:sp>
      <p:sp>
        <p:nvSpPr>
          <p:cNvPr id="5" name="Text 3"/>
          <p:cNvSpPr txBox="1"/>
          <p:nvPr/>
        </p:nvSpPr>
        <p:spPr>
          <a:xfrm>
            <a:off x="1005840" y="1783080"/>
            <a:ext cx="310896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86.58</a:t>
            </a:r>
            <a:endParaRPr lang="en-US" sz="4400" dirty="0"/>
          </a:p>
        </p:txBody>
      </p:sp>
      <p:sp>
        <p:nvSpPr>
          <p:cNvPr id="6" name="Text 4"/>
          <p:cNvSpPr txBox="1"/>
          <p:nvPr/>
        </p:nvSpPr>
        <p:spPr>
          <a:xfrm>
            <a:off x="1005840" y="2697480"/>
            <a:ext cx="3108960"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Market1501, PA100k, PETA</a:t>
            </a:r>
            <a:endParaRPr lang="en-US" sz="1400" dirty="0"/>
          </a:p>
          <a:p>
            <a:pPr indent="0" marL="0">
              <a:spcAft>
                <a:spcPts val="400"/>
              </a:spcAft>
              <a:buNone/>
            </a:pPr>
            <a:r>
              <a:rPr lang="en-US" sz="1400" dirty="0">
                <a:solidFill>
                  <a:schemeClr val="tx1"/>
                </a:solidFill>
              </a:rPr>
              <a:t>33,407 images</a:t>
            </a:r>
            <a:endParaRPr lang="en-US" sz="1400" dirty="0"/>
          </a:p>
        </p:txBody>
      </p:sp>
      <p:sp>
        <p:nvSpPr>
          <p:cNvPr id="7" name="score Codabench hidden test"/>
          <p:cNvSpPr/>
          <p:nvPr/>
        </p:nvSpPr>
        <p:spPr>
          <a:xfrm>
            <a:off x="4754880" y="1188720"/>
            <a:ext cx="3657600" cy="2651760"/>
          </a:xfrm>
          <a:prstGeom prst="roundRect">
            <a:avLst>
              <a:gd name="adj" fmla="val 2759"/>
            </a:avLst>
          </a:prstGeom>
          <a:solidFill>
            <a:srgbClr val="0F1B2D"/>
          </a:solidFill>
          <a:ln w="12700">
            <a:solidFill>
              <a:srgbClr val="0F1B2D"/>
            </a:solidFill>
            <a:prstDash val="solid"/>
          </a:ln>
        </p:spPr>
      </p:sp>
      <p:sp>
        <p:nvSpPr>
          <p:cNvPr id="8" name="Text 6"/>
          <p:cNvSpPr txBox="1"/>
          <p:nvPr/>
        </p:nvSpPr>
        <p:spPr>
          <a:xfrm>
            <a:off x="5029200" y="1325880"/>
            <a:ext cx="3108960" cy="411480"/>
          </a:xfrm>
          <a:prstGeom prst="rect">
            <a:avLst/>
          </a:prstGeom>
          <a:noFill/>
          <a:ln/>
        </p:spPr>
        <p:txBody>
          <a:bodyPr wrap="square" lIns="0" tIns="0" rIns="0" bIns="0" rtlCol="0" anchor="ctr"/>
          <a:lstStyle/>
          <a:p>
            <a:pPr indent="0" marL="0">
              <a:buNone/>
            </a:pPr>
            <a:r>
              <a:rPr lang="en-US" sz="1800" b="1" dirty="0">
                <a:solidFill>
                  <a:schemeClr val="bg1"/>
                </a:solidFill>
              </a:rPr>
              <a:t>Codabench hidden test</a:t>
            </a:r>
            <a:endParaRPr lang="en-US" sz="1800" dirty="0"/>
          </a:p>
        </p:txBody>
      </p:sp>
      <p:sp>
        <p:nvSpPr>
          <p:cNvPr id="9" name="Text 7"/>
          <p:cNvSpPr txBox="1"/>
          <p:nvPr/>
        </p:nvSpPr>
        <p:spPr>
          <a:xfrm>
            <a:off x="5029200" y="1783080"/>
            <a:ext cx="310896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74.06</a:t>
            </a:r>
            <a:endParaRPr lang="en-US" sz="4400" dirty="0"/>
          </a:p>
        </p:txBody>
      </p:sp>
      <p:sp>
        <p:nvSpPr>
          <p:cNvPr id="10" name="Text 8"/>
          <p:cNvSpPr txBox="1"/>
          <p:nvPr/>
        </p:nvSpPr>
        <p:spPr>
          <a:xfrm>
            <a:off x="5029200" y="2697480"/>
            <a:ext cx="3108960" cy="82296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new domain (e.g. MEVID)</a:t>
            </a:r>
            <a:endParaRPr lang="en-US" sz="1400" dirty="0"/>
          </a:p>
          <a:p>
            <a:pPr indent="0" marL="0">
              <a:spcAft>
                <a:spcPts val="400"/>
              </a:spcAft>
              <a:buNone/>
            </a:pPr>
            <a:r>
              <a:rPr lang="en-US" sz="1400" dirty="0">
                <a:solidFill>
                  <a:schemeClr val="bg1"/>
                </a:solidFill>
              </a:rPr>
              <a:t>29,248 images</a:t>
            </a:r>
            <a:endParaRPr lang="en-US" sz="1400" dirty="0"/>
          </a:p>
        </p:txBody>
      </p:sp>
      <p:sp>
        <p:nvSpPr>
          <p:cNvPr id="11" name="Text 9"/>
          <p:cNvSpPr txBox="1"/>
          <p:nvPr/>
        </p:nvSpPr>
        <p:spPr>
          <a:xfrm>
            <a:off x="731520" y="4023360"/>
            <a:ext cx="7680960" cy="457200"/>
          </a:xfrm>
          <a:prstGeom prst="rect">
            <a:avLst/>
          </a:prstGeom>
          <a:noFill/>
          <a:ln/>
        </p:spPr>
        <p:txBody>
          <a:bodyPr wrap="square" lIns="0" tIns="0" rIns="0" bIns="0" rtlCol="0" anchor="ctr"/>
          <a:lstStyle/>
          <a:p>
            <a:pPr indent="0" marL="0">
              <a:buNone/>
            </a:pPr>
            <a:r>
              <a:rPr lang="en-US" sz="1300" dirty="0">
                <a:solidFill>
                  <a:schemeClr val="tx2"/>
                </a:solidFill>
              </a:rPr>
              <a:t>About 12.5 points lost on images from a domain the model never saw. Domain shift is the biggest challenge in this task.</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Challenges and next steps</a:t>
            </a:r>
            <a:endParaRPr lang="en-US" sz="3000" dirty="0"/>
          </a:p>
        </p:txBody>
      </p:sp>
      <p:sp>
        <p:nvSpPr>
          <p:cNvPr id="3" name="Challenges we faced"/>
          <p:cNvSpPr/>
          <p:nvPr/>
        </p:nvSpPr>
        <p:spPr>
          <a:xfrm>
            <a:off x="457200" y="1143000"/>
            <a:ext cx="4023360" cy="2651760"/>
          </a:xfrm>
          <a:prstGeom prst="roundRect">
            <a:avLst>
              <a:gd name="adj" fmla="val 2759"/>
            </a:avLst>
          </a:prstGeom>
          <a:solidFill>
            <a:srgbClr val="EEF2F7"/>
          </a:solidFill>
          <a:ln w="12700">
            <a:solidFill>
              <a:srgbClr val="EEF2F7"/>
            </a:solidFill>
            <a:prstDash val="solid"/>
          </a:ln>
        </p:spPr>
      </p:sp>
      <p:sp>
        <p:nvSpPr>
          <p:cNvPr id="4" name="dot Challenges we faced"/>
          <p:cNvSpPr/>
          <p:nvPr/>
        </p:nvSpPr>
        <p:spPr>
          <a:xfrm>
            <a:off x="685800" y="1325880"/>
            <a:ext cx="365760" cy="365760"/>
          </a:xfrm>
          <a:prstGeom prst="ellipse">
            <a:avLst/>
          </a:prstGeom>
          <a:solidFill>
            <a:srgbClr val="D9534F"/>
          </a:solidFill>
          <a:ln w="12700">
            <a:solidFill>
              <a:srgbClr val="D9534F"/>
            </a:solidFill>
            <a:prstDash val="solid"/>
          </a:ln>
        </p:spPr>
      </p:sp>
      <p:sp>
        <p:nvSpPr>
          <p:cNvPr id="5" name="Text 3"/>
          <p:cNvSpPr txBox="1"/>
          <p:nvPr/>
        </p:nvSpPr>
        <p:spPr>
          <a:xfrm>
            <a:off x="1188720" y="1307592"/>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Challenges we faced</a:t>
            </a:r>
            <a:endParaRPr lang="en-US" sz="1800" dirty="0"/>
          </a:p>
        </p:txBody>
      </p:sp>
      <p:sp>
        <p:nvSpPr>
          <p:cNvPr id="6" name="Text 4"/>
          <p:cNvSpPr txBox="1"/>
          <p:nvPr/>
        </p:nvSpPr>
        <p:spPr>
          <a:xfrm>
            <a:off x="731520" y="1920240"/>
            <a:ext cx="35661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20 of 40 attributes are rare</a:t>
            </a:r>
            <a:endParaRPr lang="en-US" sz="1400" dirty="0"/>
          </a:p>
          <a:p>
            <a:pPr marL="342900" indent="-342900">
              <a:spcAft>
                <a:spcPts val="1000"/>
              </a:spcAft>
              <a:buSzPct val="100000"/>
              <a:buChar char="•"/>
            </a:pPr>
            <a:r>
              <a:rPr lang="en-US" sz="1400" dirty="0">
                <a:solidFill>
                  <a:schemeClr val="tx2"/>
                </a:solidFill>
              </a:rPr>
              <a:t>Domain shift: PA100k hardest (85.72)</a:t>
            </a:r>
            <a:endParaRPr lang="en-US" sz="1400" dirty="0"/>
          </a:p>
          <a:p>
            <a:pPr marL="342900" indent="-342900">
              <a:spcAft>
                <a:spcPts val="1000"/>
              </a:spcAft>
              <a:buSzPct val="100000"/>
              <a:buChar char="•"/>
            </a:pPr>
            <a:r>
              <a:rPr lang="en-US" sz="1400" dirty="0">
                <a:solidFill>
                  <a:schemeClr val="tx2"/>
                </a:solidFill>
              </a:rPr>
              <a:t>Colab: download script crash, disconnects</a:t>
            </a:r>
            <a:endParaRPr lang="en-US" sz="1400" dirty="0"/>
          </a:p>
          <a:p>
            <a:pPr marL="342900" indent="-342900">
              <a:spcAft>
                <a:spcPts val="1000"/>
              </a:spcAft>
              <a:buSzPct val="100000"/>
              <a:buChar char="•"/>
            </a:pPr>
            <a:r>
              <a:rPr lang="en-US" sz="1400" dirty="0">
                <a:solidFill>
                  <a:schemeClr val="tx2"/>
                </a:solidFill>
              </a:rPr>
              <a:t>Only 2 CPU cores, so lighter augmentation</a:t>
            </a:r>
            <a:endParaRPr lang="en-US" sz="1400" dirty="0"/>
          </a:p>
        </p:txBody>
      </p:sp>
      <p:sp>
        <p:nvSpPr>
          <p:cNvPr id="7" name="What we would do next"/>
          <p:cNvSpPr/>
          <p:nvPr/>
        </p:nvSpPr>
        <p:spPr>
          <a:xfrm>
            <a:off x="4663440" y="1143000"/>
            <a:ext cx="4023360" cy="2651760"/>
          </a:xfrm>
          <a:prstGeom prst="roundRect">
            <a:avLst>
              <a:gd name="adj" fmla="val 2759"/>
            </a:avLst>
          </a:prstGeom>
          <a:solidFill>
            <a:srgbClr val="EEF2F7"/>
          </a:solidFill>
          <a:ln w="12700">
            <a:solidFill>
              <a:srgbClr val="EEF2F7"/>
            </a:solidFill>
            <a:prstDash val="solid"/>
          </a:ln>
        </p:spPr>
      </p:sp>
      <p:sp>
        <p:nvSpPr>
          <p:cNvPr id="8" name="dot What we would do next"/>
          <p:cNvSpPr/>
          <p:nvPr/>
        </p:nvSpPr>
        <p:spPr>
          <a:xfrm>
            <a:off x="4892040" y="1325880"/>
            <a:ext cx="365760" cy="365760"/>
          </a:xfrm>
          <a:prstGeom prst="ellipse">
            <a:avLst/>
          </a:prstGeom>
          <a:solidFill>
            <a:srgbClr val="0E9F8E"/>
          </a:solidFill>
          <a:ln w="12700">
            <a:solidFill>
              <a:srgbClr val="0E9F8E"/>
            </a:solidFill>
            <a:prstDash val="solid"/>
          </a:ln>
        </p:spPr>
      </p:sp>
      <p:sp>
        <p:nvSpPr>
          <p:cNvPr id="9" name="Text 7"/>
          <p:cNvSpPr txBox="1"/>
          <p:nvPr/>
        </p:nvSpPr>
        <p:spPr>
          <a:xfrm>
            <a:off x="5394960" y="1307592"/>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What we would do next</a:t>
            </a:r>
            <a:endParaRPr lang="en-US" sz="1800" dirty="0"/>
          </a:p>
        </p:txBody>
      </p:sp>
      <p:sp>
        <p:nvSpPr>
          <p:cNvPr id="10" name="Text 8"/>
          <p:cNvSpPr txBox="1"/>
          <p:nvPr/>
        </p:nvSpPr>
        <p:spPr>
          <a:xfrm>
            <a:off x="4937760" y="1920240"/>
            <a:ext cx="35661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Train 8 to 12 epochs, full augmentation</a:t>
            </a:r>
            <a:endParaRPr lang="en-US" sz="1400" dirty="0"/>
          </a:p>
          <a:p>
            <a:pPr marL="342900" indent="-342900">
              <a:spcAft>
                <a:spcPts val="1000"/>
              </a:spcAft>
              <a:buSzPct val="100000"/>
              <a:buChar char="•"/>
            </a:pPr>
            <a:r>
              <a:rPr lang="en-US" sz="1400" dirty="0">
                <a:solidFill>
                  <a:schemeClr val="tx2"/>
                </a:solidFill>
              </a:rPr>
              <a:t>Focal or asymmetric loss for rare labels</a:t>
            </a:r>
            <a:endParaRPr lang="en-US" sz="1400" dirty="0"/>
          </a:p>
          <a:p>
            <a:pPr marL="342900" indent="-342900">
              <a:spcAft>
                <a:spcPts val="1000"/>
              </a:spcAft>
              <a:buSzPct val="100000"/>
              <a:buChar char="•"/>
            </a:pPr>
            <a:r>
              <a:rPr lang="en-US" sz="1400" dirty="0">
                <a:solidFill>
                  <a:schemeClr val="tx2"/>
                </a:solidFill>
              </a:rPr>
              <a:t>Stronger backbone or an ensemble</a:t>
            </a:r>
            <a:endParaRPr lang="en-US" sz="1400" dirty="0"/>
          </a:p>
          <a:p>
            <a:pPr marL="342900" indent="-342900">
              <a:spcAft>
                <a:spcPts val="1000"/>
              </a:spcAft>
              <a:buSzPct val="100000"/>
              <a:buChar char="•"/>
            </a:pPr>
            <a:r>
              <a:rPr lang="en-US" sz="1400" dirty="0">
                <a:solidFill>
                  <a:schemeClr val="tx2"/>
                </a:solidFill>
              </a:rPr>
              <a:t>Higher resolution for small accessories</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Demo and submission</a:t>
            </a:r>
            <a:endParaRPr lang="en-US" sz="3800" dirty="0"/>
          </a:p>
        </p:txBody>
      </p:sp>
      <p:sp>
        <p:nvSpPr>
          <p:cNvPr id="3" name="Text 1"/>
          <p:cNvSpPr txBox="1"/>
          <p:nvPr/>
        </p:nvSpPr>
        <p:spPr>
          <a:xfrm>
            <a:off x="548640" y="2971800"/>
            <a:ext cx="4937760" cy="1371600"/>
          </a:xfrm>
          <a:prstGeom prst="rect">
            <a:avLst/>
          </a:prstGeom>
          <a:noFill/>
          <a:ln/>
        </p:spPr>
        <p:txBody>
          <a:bodyPr wrap="square" lIns="0" tIns="0" rIns="0" bIns="0" rtlCol="0" anchor="t"/>
          <a:lstStyle/>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python test_model.py</a:t>
            </a:r>
            <a:endParaRPr lang="en-US" sz="1400" dirty="0"/>
          </a:p>
          <a:p>
            <a:pPr indent="0" marL="0">
              <a:spcAft>
                <a:spcPts val="400"/>
              </a:spcAft>
              <a:buNone/>
            </a:pPr>
            <a:r>
              <a:rPr lang="en-US" sz="1400" dirty="0">
                <a:solidFill>
                  <a:schemeClr val="bg2"/>
                </a:solidFill>
              </a:rPr>
              <a:t>predictions on sample images</a:t>
            </a:r>
            <a:endParaRPr lang="en-US" sz="1400" dirty="0"/>
          </a:p>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python check_submission.py</a:t>
            </a:r>
            <a:endParaRPr lang="en-US" sz="1400" dirty="0"/>
          </a:p>
          <a:p>
            <a:pPr indent="0" marL="0">
              <a:spcAft>
                <a:spcPts val="400"/>
              </a:spcAft>
              <a:buNone/>
            </a:pPr>
            <a:r>
              <a:rPr lang="en-US" sz="1400" dirty="0">
                <a:solidFill>
                  <a:schemeClr val="bg2"/>
                </a:solidFill>
              </a:rPr>
              <a:t>15 / 15 offline tests passed</a:t>
            </a:r>
            <a:endParaRPr lang="en-US" sz="1400" dirty="0"/>
          </a:p>
        </p:txBody>
      </p:sp>
      <p:sp>
        <p:nvSpPr>
          <p:cNvPr id="4" name="codabench box"/>
          <p:cNvSpPr/>
          <p:nvPr/>
        </p:nvSpPr>
        <p:spPr>
          <a:xfrm>
            <a:off x="5852160" y="1188720"/>
            <a:ext cx="2834640" cy="2194560"/>
          </a:xfrm>
          <a:prstGeom prst="roundRect">
            <a:avLst>
              <a:gd name="adj" fmla="val 3333"/>
            </a:avLst>
          </a:prstGeom>
          <a:solidFill>
            <a:srgbClr val="33415C"/>
          </a:solidFill>
          <a:ln w="12700">
            <a:solidFill>
              <a:srgbClr val="33415C"/>
            </a:solidFill>
            <a:prstDash val="solid"/>
          </a:ln>
        </p:spPr>
      </p:sp>
      <p:sp>
        <p:nvSpPr>
          <p:cNvPr id="5" name="Text 3"/>
          <p:cNvSpPr txBox="1"/>
          <p:nvPr/>
        </p:nvSpPr>
        <p:spPr>
          <a:xfrm>
            <a:off x="6035040" y="1325880"/>
            <a:ext cx="2468880" cy="365760"/>
          </a:xfrm>
          <a:prstGeom prst="rect">
            <a:avLst/>
          </a:prstGeom>
          <a:noFill/>
          <a:ln/>
        </p:spPr>
        <p:txBody>
          <a:bodyPr wrap="square" lIns="0" tIns="0" rIns="0" bIns="0" rtlCol="0" anchor="ctr"/>
          <a:lstStyle/>
          <a:p>
            <a:pPr indent="0" marL="0">
              <a:buNone/>
            </a:pPr>
            <a:r>
              <a:rPr lang="en-US" sz="1400" b="1" dirty="0">
                <a:solidFill>
                  <a:schemeClr val="accent6"/>
                </a:solidFill>
              </a:rPr>
              <a:t>Codabench Track 1</a:t>
            </a:r>
            <a:endParaRPr lang="en-US" sz="1400" dirty="0"/>
          </a:p>
        </p:txBody>
      </p:sp>
      <p:sp>
        <p:nvSpPr>
          <p:cNvPr id="6" name="Text 4"/>
          <p:cNvSpPr txBox="1"/>
          <p:nvPr/>
        </p:nvSpPr>
        <p:spPr>
          <a:xfrm>
            <a:off x="6035040" y="1783080"/>
            <a:ext cx="2468880" cy="73152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0.7406</a:t>
            </a:r>
            <a:endParaRPr lang="en-US" sz="3000" dirty="0"/>
          </a:p>
        </p:txBody>
      </p:sp>
      <p:sp>
        <p:nvSpPr>
          <p:cNvPr id="7" name="Text 5"/>
          <p:cNvSpPr txBox="1"/>
          <p:nvPr/>
        </p:nvSpPr>
        <p:spPr>
          <a:xfrm>
            <a:off x="6035040" y="2606040"/>
            <a:ext cx="2468880" cy="640080"/>
          </a:xfrm>
          <a:prstGeom prst="rect">
            <a:avLst/>
          </a:prstGeom>
          <a:noFill/>
          <a:ln/>
        </p:spPr>
        <p:txBody>
          <a:bodyPr wrap="square" lIns="0" tIns="0" rIns="0" bIns="0" rtlCol="0" anchor="ctr"/>
          <a:lstStyle/>
          <a:p>
            <a:pPr indent="0" marL="0">
              <a:buNone/>
            </a:pPr>
            <a:r>
              <a:rPr lang="en-US" sz="1200" dirty="0">
                <a:solidFill>
                  <a:schemeClr val="bg2"/>
                </a:solidFill>
              </a:rPr>
              <a:t>hidden test score</a:t>
            </a:r>
            <a:endParaRPr lang="en-US" sz="1200" dirty="0"/>
          </a:p>
          <a:p>
            <a:pPr indent="0" marL="0">
              <a:buNone/>
            </a:pPr>
            <a:r>
              <a:rPr lang="en-US" sz="1200" dirty="0">
                <a:solidFill>
                  <a:schemeClr val="bg2"/>
                </a:solidFill>
              </a:rPr>
              <a:t>validation was 0.866, so domain shift costs ~12.5 points</a:t>
            </a:r>
            <a:endParaRPr lang="en-US" sz="1200" dirty="0"/>
          </a:p>
        </p:txBody>
      </p:sp>
    </p:spTree>
  </p:cSld>
  <p:clrMapOvr>
    <a:masterClrMapping/>
  </p:clrMapOvr>
</p:sld>
</file>

<file path=ppt/theme/theme1.xml><?xml version="1.0" encoding="utf-8"?>
<a:theme xmlns:a="http://schemas.openxmlformats.org/drawingml/2006/main" name="Surveillance Night">
  <a:themeElements>
    <a:clrScheme name="Surveillance Night">
      <a:dk1>
        <a:srgbClr val="0F1B2D"/>
      </a:dk1>
      <a:lt1>
        <a:srgbClr val="FFFFFF"/>
      </a:lt1>
      <a:dk2>
        <a:srgbClr val="33415C"/>
      </a:dk2>
      <a:lt2>
        <a:srgbClr val="EEF2F7"/>
      </a:lt2>
      <a:accent1>
        <a:srgbClr val="0E9F8E"/>
      </a:accent1>
      <a:accent2>
        <a:srgbClr val="F2A33A"/>
      </a:accent2>
      <a:accent3>
        <a:srgbClr val="8FA3BF"/>
      </a:accent3>
      <a:accent4>
        <a:srgbClr val="D9534F"/>
      </a:accent4>
      <a:accent5>
        <a:srgbClr val="1F3A5F"/>
      </a:accent5>
      <a:accent6>
        <a:srgbClr val="5BC0BE"/>
      </a:accent6>
      <a:hlink>
        <a:srgbClr val="0E9F8E"/>
      </a:hlink>
      <a:folHlink>
        <a:srgbClr val="1F3A5F"/>
      </a:folHlink>
    </a:clrScheme>
    <a:fontScheme name="Surveillance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Pedestrian Attribute Recognition with ResNet50</dc:title>
  <dc:subject>PptxGenJS Presentation</dc:subject>
  <dc:creator>Hafsa Rashid, Syeda Sara Ali</dc:creator>
  <cp:lastModifiedBy>Hafsa Rashid, Syeda Sara Ali</cp:lastModifiedBy>
  <cp:revision>1</cp:revision>
  <dcterms:created xsi:type="dcterms:W3CDTF">2026-10-19T16:29:51Z</dcterms:created>
  <dcterms:modified xsi:type="dcterms:W3CDTF">2026-10-19T16:29:51Z</dcterms:modified>
</cp:coreProperties>
</file>